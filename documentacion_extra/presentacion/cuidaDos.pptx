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Montserrat Bold" charset="1" panose="00000800000000000000"/>
      <p:regular r:id="rId17"/>
    </p:embeddedFont>
    <p:embeddedFont>
      <p:font typeface="Montserrat" charset="1" panose="00000500000000000000"/>
      <p:regular r:id="rId18"/>
    </p:embeddedFont>
    <p:embeddedFont>
      <p:font typeface="Poppins" charset="1" panose="00000500000000000000"/>
      <p:regular r:id="rId19"/>
    </p:embeddedFont>
    <p:embeddedFont>
      <p:font typeface="Poppins Bold" charset="1" panose="00000800000000000000"/>
      <p:regular r:id="rId20"/>
    </p:embeddedFont>
    <p:embeddedFont>
      <p:font typeface="Fraunces Bold" charset="1" panose="00000000000000000000"/>
      <p:regular r:id="rId21"/>
    </p:embeddedFont>
    <p:embeddedFont>
      <p:font typeface="Open Sans Bold" charset="1" panose="020B0806030504020204"/>
      <p:regular r:id="rId22"/>
    </p:embeddedFont>
    <p:embeddedFont>
      <p:font typeface="Fraunces" charset="1" panose="0000000000000000000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embeddings/oleObject1.bin" Type="http://schemas.openxmlformats.org/officeDocument/2006/relationships/oleObjec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14.png" Type="http://schemas.openxmlformats.org/officeDocument/2006/relationships/image"/><Relationship Id="rId5" Target="../media/image1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4.png" Type="http://schemas.openxmlformats.org/officeDocument/2006/relationships/image"/><Relationship Id="rId4" Target="../media/image17.png" Type="http://schemas.openxmlformats.org/officeDocument/2006/relationships/image"/><Relationship Id="rId5" Target="../media/image18.png" Type="http://schemas.openxmlformats.org/officeDocument/2006/relationships/image"/><Relationship Id="rId6" Target="../media/image19.png" Type="http://schemas.openxmlformats.org/officeDocument/2006/relationships/image"/><Relationship Id="rId7" Target="../media/image20.png" Type="http://schemas.openxmlformats.org/officeDocument/2006/relationships/image"/><Relationship Id="rId8" Target="../media/image2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Relationship Id="rId3" Target="../media/image23.png" Type="http://schemas.openxmlformats.org/officeDocument/2006/relationships/image"/><Relationship Id="rId4" Target="../media/image24.png" Type="http://schemas.openxmlformats.org/officeDocument/2006/relationships/image"/><Relationship Id="rId5" Target="../media/image25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27.svg" Type="http://schemas.openxmlformats.org/officeDocument/2006/relationships/image"/><Relationship Id="rId4" Target="../media/image28.png" Type="http://schemas.openxmlformats.org/officeDocument/2006/relationships/image"/><Relationship Id="rId5" Target="../media/image29.svg" Type="http://schemas.openxmlformats.org/officeDocument/2006/relationships/image"/><Relationship Id="rId6" Target="../media/image30.png" Type="http://schemas.openxmlformats.org/officeDocument/2006/relationships/image"/><Relationship Id="rId7" Target="../media/image31.svg" Type="http://schemas.openxmlformats.org/officeDocument/2006/relationships/image"/><Relationship Id="rId8" Target="../media/image32.png" Type="http://schemas.openxmlformats.org/officeDocument/2006/relationships/image"/><Relationship Id="rId9" Target="../media/image33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34.png" Type="http://schemas.openxmlformats.org/officeDocument/2006/relationships/image"/><Relationship Id="rId4" Target="https://www.conectacuidados.eu" TargetMode="External" Type="http://schemas.openxmlformats.org/officeDocument/2006/relationships/hyperlink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35.png" Type="http://schemas.openxmlformats.org/officeDocument/2006/relationships/image"/><Relationship Id="rId7" Target="../media/image36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545528" y="1988168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762511" y="2903072"/>
            <a:ext cx="2258325" cy="4672626"/>
          </a:xfrm>
          <a:custGeom>
            <a:avLst/>
            <a:gdLst/>
            <a:ahLst/>
            <a:cxnLst/>
            <a:rect r="r" b="b" t="t" l="l"/>
            <a:pathLst>
              <a:path h="4672626" w="2258325">
                <a:moveTo>
                  <a:pt x="0" y="0"/>
                </a:moveTo>
                <a:lnTo>
                  <a:pt x="2258325" y="0"/>
                </a:lnTo>
                <a:lnTo>
                  <a:pt x="2258325" y="4672625"/>
                </a:lnTo>
                <a:lnTo>
                  <a:pt x="0" y="4672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1731" t="0" r="-28511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373992" y="1988168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8"/>
                </a:lnTo>
                <a:lnTo>
                  <a:pt x="0" y="11521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1897867" y="7115496"/>
            <a:ext cx="952251" cy="920403"/>
            <a:chOff x="0" y="0"/>
            <a:chExt cx="840925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40925" cy="812800"/>
            </a:xfrm>
            <a:custGeom>
              <a:avLst/>
              <a:gdLst/>
              <a:ahLst/>
              <a:cxnLst/>
              <a:rect r="r" b="b" t="t" l="l"/>
              <a:pathLst>
                <a:path h="812800" w="840925">
                  <a:moveTo>
                    <a:pt x="840925" y="406400"/>
                  </a:moveTo>
                  <a:lnTo>
                    <a:pt x="434525" y="0"/>
                  </a:lnTo>
                  <a:lnTo>
                    <a:pt x="434525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34525" y="609600"/>
                  </a:lnTo>
                  <a:lnTo>
                    <a:pt x="434525" y="812800"/>
                  </a:lnTo>
                  <a:lnTo>
                    <a:pt x="840925" y="406400"/>
                  </a:lnTo>
                  <a:close/>
                </a:path>
              </a:pathLst>
            </a:custGeom>
            <a:solidFill>
              <a:srgbClr val="51786E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184150"/>
              <a:ext cx="739325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3042806" y="6599166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5878614" y="3273191"/>
            <a:ext cx="6971503" cy="1762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  <a:p>
            <a:pPr algn="ctr">
              <a:lnSpc>
                <a:spcPts val="2400"/>
              </a:lnSpc>
            </a:pPr>
            <a:r>
              <a:rPr lang="en-US" b="true" sz="2000" spc="-4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FULL-STACK ARCHITECTURE</a:t>
            </a:r>
          </a:p>
          <a:p>
            <a:pPr algn="ctr">
              <a:lnSpc>
                <a:spcPts val="2400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6630860" y="5349389"/>
            <a:ext cx="524188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Evelia Gil Paredes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490770" y="6051999"/>
            <a:ext cx="4381971" cy="1397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IES Albarregas</a:t>
            </a:r>
          </a:p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Técnico Superior en Desarrollo de Aplicaciones Web</a:t>
            </a:r>
          </a:p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Curso: 25/26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545528" y="1988168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3702460" y="3779581"/>
            <a:ext cx="2773099" cy="3580649"/>
          </a:xfrm>
          <a:custGeom>
            <a:avLst/>
            <a:gdLst/>
            <a:ahLst/>
            <a:cxnLst/>
            <a:rect r="r" b="b" t="t" l="l"/>
            <a:pathLst>
              <a:path h="3580649" w="2773099">
                <a:moveTo>
                  <a:pt x="0" y="0"/>
                </a:moveTo>
                <a:lnTo>
                  <a:pt x="2773098" y="0"/>
                </a:lnTo>
                <a:lnTo>
                  <a:pt x="2773098" y="3580649"/>
                </a:lnTo>
                <a:lnTo>
                  <a:pt x="0" y="35806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007833" y="2355605"/>
            <a:ext cx="4272335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00"/>
              </a:lnSpc>
            </a:pPr>
            <a:r>
              <a:rPr lang="en-US" b="true" sz="6000" spc="-12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ÍNDICE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602952" y="3751006"/>
            <a:ext cx="7436270" cy="3787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2468" indent="-356234" lvl="1">
              <a:lnSpc>
                <a:spcPts val="4289"/>
              </a:lnSpc>
              <a:buFont typeface="Arial"/>
              <a:buChar char="•"/>
            </a:pPr>
            <a:r>
              <a:rPr lang="en-US" b="true" sz="3299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Justificación</a:t>
            </a:r>
          </a:p>
          <a:p>
            <a:pPr algn="l" marL="712468" indent="-356234" lvl="1">
              <a:lnSpc>
                <a:spcPts val="4289"/>
              </a:lnSpc>
              <a:buFont typeface="Arial"/>
              <a:buChar char="•"/>
            </a:pPr>
            <a:r>
              <a:rPr lang="en-US" b="true" sz="3299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Roles y funcionalidades</a:t>
            </a:r>
          </a:p>
          <a:p>
            <a:pPr algn="l" marL="712468" indent="-356234" lvl="1">
              <a:lnSpc>
                <a:spcPts val="4289"/>
              </a:lnSpc>
              <a:buFont typeface="Arial"/>
              <a:buChar char="•"/>
            </a:pPr>
            <a:r>
              <a:rPr lang="en-US" b="true" sz="3299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Base de datos</a:t>
            </a:r>
          </a:p>
          <a:p>
            <a:pPr algn="l" marL="712468" indent="-356234" lvl="1">
              <a:lnSpc>
                <a:spcPts val="4289"/>
              </a:lnSpc>
              <a:buFont typeface="Arial"/>
              <a:buChar char="•"/>
            </a:pPr>
            <a:r>
              <a:rPr lang="en-US" b="true" sz="3299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Stack tecnológico</a:t>
            </a:r>
          </a:p>
          <a:p>
            <a:pPr algn="l" marL="712468" indent="-356234" lvl="1">
              <a:lnSpc>
                <a:spcPts val="4289"/>
              </a:lnSpc>
              <a:buFont typeface="Arial"/>
              <a:buChar char="•"/>
            </a:pPr>
            <a:r>
              <a:rPr lang="en-US" b="true" sz="3299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Integraciones y seguridad </a:t>
            </a:r>
          </a:p>
          <a:p>
            <a:pPr algn="l" marL="712468" indent="-356234" lvl="1">
              <a:lnSpc>
                <a:spcPts val="4289"/>
              </a:lnSpc>
              <a:buFont typeface="Arial"/>
              <a:buChar char="•"/>
            </a:pPr>
            <a:r>
              <a:rPr lang="en-US" b="true" sz="3299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Futuras mejoras</a:t>
            </a:r>
          </a:p>
          <a:p>
            <a:pPr algn="l" marL="712468" indent="-356234" lvl="1">
              <a:lnSpc>
                <a:spcPts val="4289"/>
              </a:lnSpc>
              <a:buFont typeface="Arial"/>
              <a:buChar char="•"/>
            </a:pPr>
            <a:r>
              <a:rPr lang="en-US" b="true" sz="3299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Demo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48121" y="1028700"/>
            <a:ext cx="15591759" cy="8229600"/>
            <a:chOff x="0" y="0"/>
            <a:chExt cx="410647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06471" cy="2167467"/>
            </a:xfrm>
            <a:custGeom>
              <a:avLst/>
              <a:gdLst/>
              <a:ahLst/>
              <a:cxnLst/>
              <a:rect r="r" b="b" t="t" l="l"/>
              <a:pathLst>
                <a:path h="2167467" w="4106471">
                  <a:moveTo>
                    <a:pt x="0" y="0"/>
                  </a:moveTo>
                  <a:lnTo>
                    <a:pt x="4106471" y="0"/>
                  </a:lnTo>
                  <a:lnTo>
                    <a:pt x="4106471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932714" y="3975846"/>
            <a:ext cx="4475594" cy="4161408"/>
            <a:chOff x="0" y="0"/>
            <a:chExt cx="1178757" cy="109600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78757" cy="1096009"/>
            </a:xfrm>
            <a:custGeom>
              <a:avLst/>
              <a:gdLst/>
              <a:ahLst/>
              <a:cxnLst/>
              <a:rect r="r" b="b" t="t" l="l"/>
              <a:pathLst>
                <a:path h="1096009" w="1178757">
                  <a:moveTo>
                    <a:pt x="0" y="0"/>
                  </a:moveTo>
                  <a:lnTo>
                    <a:pt x="1178757" y="0"/>
                  </a:lnTo>
                  <a:lnTo>
                    <a:pt x="1178757" y="1096009"/>
                  </a:lnTo>
                  <a:lnTo>
                    <a:pt x="0" y="1096009"/>
                  </a:ln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1178757" cy="11150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324900" y="2683194"/>
            <a:ext cx="3691221" cy="754966"/>
            <a:chOff x="0" y="0"/>
            <a:chExt cx="972174" cy="19883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72174" cy="198839"/>
            </a:xfrm>
            <a:custGeom>
              <a:avLst/>
              <a:gdLst/>
              <a:ahLst/>
              <a:cxnLst/>
              <a:rect r="r" b="b" t="t" l="l"/>
              <a:pathLst>
                <a:path h="198839" w="972174">
                  <a:moveTo>
                    <a:pt x="0" y="0"/>
                  </a:moveTo>
                  <a:lnTo>
                    <a:pt x="972174" y="0"/>
                  </a:lnTo>
                  <a:lnTo>
                    <a:pt x="972174" y="198839"/>
                  </a:lnTo>
                  <a:lnTo>
                    <a:pt x="0" y="198839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972174" cy="2178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QUÉ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7530941" y="2683194"/>
            <a:ext cx="3563827" cy="754966"/>
            <a:chOff x="0" y="0"/>
            <a:chExt cx="938621" cy="19883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938621" cy="198839"/>
            </a:xfrm>
            <a:custGeom>
              <a:avLst/>
              <a:gdLst/>
              <a:ahLst/>
              <a:cxnLst/>
              <a:rect r="r" b="b" t="t" l="l"/>
              <a:pathLst>
                <a:path h="198839" w="938621">
                  <a:moveTo>
                    <a:pt x="0" y="0"/>
                  </a:moveTo>
                  <a:lnTo>
                    <a:pt x="938621" y="0"/>
                  </a:lnTo>
                  <a:lnTo>
                    <a:pt x="938621" y="198839"/>
                  </a:lnTo>
                  <a:lnTo>
                    <a:pt x="0" y="198839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938621" cy="2178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PORQUÉ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746020" y="2683194"/>
            <a:ext cx="3086100" cy="754966"/>
            <a:chOff x="0" y="0"/>
            <a:chExt cx="812800" cy="19883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198839"/>
            </a:xfrm>
            <a:custGeom>
              <a:avLst/>
              <a:gdLst/>
              <a:ahLst/>
              <a:cxnLst/>
              <a:rect r="r" b="b" t="t" l="l"/>
              <a:pathLst>
                <a:path h="198839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98839"/>
                  </a:lnTo>
                  <a:lnTo>
                    <a:pt x="0" y="198839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812800" cy="2178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PARA QUÉ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2051273" y="3975846"/>
            <a:ext cx="4475594" cy="4146644"/>
            <a:chOff x="0" y="0"/>
            <a:chExt cx="1178757" cy="10921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178757" cy="1092120"/>
            </a:xfrm>
            <a:custGeom>
              <a:avLst/>
              <a:gdLst/>
              <a:ahLst/>
              <a:cxnLst/>
              <a:rect r="r" b="b" t="t" l="l"/>
              <a:pathLst>
                <a:path h="1092120" w="1178757">
                  <a:moveTo>
                    <a:pt x="0" y="0"/>
                  </a:moveTo>
                  <a:lnTo>
                    <a:pt x="1178757" y="0"/>
                  </a:lnTo>
                  <a:lnTo>
                    <a:pt x="1178757" y="1092120"/>
                  </a:lnTo>
                  <a:lnTo>
                    <a:pt x="0" y="1092120"/>
                  </a:ln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1178757" cy="11111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2674602" y="4326535"/>
            <a:ext cx="3363677" cy="3524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Facilitar la contratación de servicios. 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Solucionar posibles conflictos.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Dar visibilidad a empresas más pequeñas.</a:t>
            </a:r>
          </a:p>
          <a:p>
            <a:pPr algn="l" marL="0" indent="0" lvl="0">
              <a:lnSpc>
                <a:spcPts val="2828"/>
              </a:lnSpc>
              <a:spcBef>
                <a:spcPct val="0"/>
              </a:spcBef>
            </a:pPr>
          </a:p>
        </p:txBody>
      </p:sp>
      <p:grpSp>
        <p:nvGrpSpPr>
          <p:cNvPr name="Group 21" id="21"/>
          <p:cNvGrpSpPr/>
          <p:nvPr/>
        </p:nvGrpSpPr>
        <p:grpSpPr>
          <a:xfrm rot="0">
            <a:off x="7075058" y="4024558"/>
            <a:ext cx="4475594" cy="4146644"/>
            <a:chOff x="0" y="0"/>
            <a:chExt cx="1178757" cy="10921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78757" cy="1092120"/>
            </a:xfrm>
            <a:custGeom>
              <a:avLst/>
              <a:gdLst/>
              <a:ahLst/>
              <a:cxnLst/>
              <a:rect r="r" b="b" t="t" l="l"/>
              <a:pathLst>
                <a:path h="1092120" w="1178757">
                  <a:moveTo>
                    <a:pt x="0" y="0"/>
                  </a:moveTo>
                  <a:lnTo>
                    <a:pt x="1178757" y="0"/>
                  </a:lnTo>
                  <a:lnTo>
                    <a:pt x="1178757" y="1092120"/>
                  </a:lnTo>
                  <a:lnTo>
                    <a:pt x="0" y="1092120"/>
                  </a:ln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47625"/>
              <a:ext cx="1178757" cy="11397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00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7530941" y="4326535"/>
            <a:ext cx="3563827" cy="36290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3"/>
              </a:lnSpc>
            </a:pP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Aumento de la demanda de contratación de servicios de asistencia. </a:t>
            </a:r>
          </a:p>
          <a:p>
            <a:pPr algn="l">
              <a:lnSpc>
                <a:spcPts val="2873"/>
              </a:lnSpc>
            </a:pPr>
          </a:p>
          <a:p>
            <a:pPr algn="l" marL="0" indent="0" lvl="0">
              <a:lnSpc>
                <a:spcPts val="2873"/>
              </a:lnSpc>
              <a:spcBef>
                <a:spcPct val="0"/>
              </a:spcBef>
            </a:pPr>
            <a:r>
              <a:rPr lang="en-US" b="true" sz="2082" spc="204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Objetivo:</a:t>
            </a: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 con un solo clic contratar servicios adaptados a sus necesidades.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563586" y="1329960"/>
            <a:ext cx="10906040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b="true" sz="4745" spc="37">
                <a:solidFill>
                  <a:srgbClr val="344F51"/>
                </a:solidFill>
                <a:latin typeface="Fraunces Bold"/>
                <a:ea typeface="Fraunces Bold"/>
                <a:cs typeface="Fraunces Bold"/>
                <a:sym typeface="Fraunces Bold"/>
              </a:rPr>
              <a:t>JUSTIFICACIÓN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359182" y="4326535"/>
            <a:ext cx="3656940" cy="3316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58"/>
              </a:lnSpc>
              <a:spcBef>
                <a:spcPct val="0"/>
              </a:spcBef>
            </a:pPr>
            <a:r>
              <a:rPr lang="en-US" sz="2143" spc="21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Sitio web para contratar servicios ofrecidos por distintas empresas destinados al cuidado de personas mayores y/o personas que necesitan ayuda (dependientes).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208853" y="424928"/>
            <a:ext cx="19354610" cy="1639695"/>
            <a:chOff x="0" y="0"/>
            <a:chExt cx="1876002" cy="15893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58932"/>
            </a:xfrm>
            <a:custGeom>
              <a:avLst/>
              <a:gdLst/>
              <a:ahLst/>
              <a:cxnLst/>
              <a:rect r="r" b="b" t="t" l="l"/>
              <a:pathLst>
                <a:path h="158932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58932"/>
                  </a:lnTo>
                  <a:lnTo>
                    <a:pt x="1876002" y="158932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779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886411" y="3407406"/>
            <a:ext cx="2667835" cy="810936"/>
            <a:chOff x="0" y="0"/>
            <a:chExt cx="620299" cy="18855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0" y="0"/>
                  </a:moveTo>
                  <a:lnTo>
                    <a:pt x="620299" y="0"/>
                  </a:lnTo>
                  <a:lnTo>
                    <a:pt x="620299" y="188551"/>
                  </a:lnTo>
                  <a:lnTo>
                    <a:pt x="0" y="188551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CLIENTE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276448" y="4817276"/>
            <a:ext cx="3887759" cy="3328894"/>
          </a:xfrm>
          <a:custGeom>
            <a:avLst/>
            <a:gdLst/>
            <a:ahLst/>
            <a:cxnLst/>
            <a:rect r="r" b="b" t="t" l="l"/>
            <a:pathLst>
              <a:path h="3328894" w="3887759">
                <a:moveTo>
                  <a:pt x="0" y="0"/>
                </a:moveTo>
                <a:lnTo>
                  <a:pt x="3887759" y="0"/>
                </a:lnTo>
                <a:lnTo>
                  <a:pt x="3887759" y="3328894"/>
                </a:lnTo>
                <a:lnTo>
                  <a:pt x="0" y="332889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658038" y="808479"/>
            <a:ext cx="9308329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ROLES Y PERMISOS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8216586" y="3407406"/>
            <a:ext cx="2385400" cy="810936"/>
            <a:chOff x="0" y="0"/>
            <a:chExt cx="554630" cy="18855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54630" cy="188551"/>
            </a:xfrm>
            <a:custGeom>
              <a:avLst/>
              <a:gdLst/>
              <a:ahLst/>
              <a:cxnLst/>
              <a:rect r="r" b="b" t="t" l="l"/>
              <a:pathLst>
                <a:path h="188551" w="554630">
                  <a:moveTo>
                    <a:pt x="0" y="0"/>
                  </a:moveTo>
                  <a:lnTo>
                    <a:pt x="554630" y="0"/>
                  </a:lnTo>
                  <a:lnTo>
                    <a:pt x="554630" y="188551"/>
                  </a:lnTo>
                  <a:lnTo>
                    <a:pt x="0" y="188551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76200"/>
              <a:ext cx="554630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EMPRESA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4264327" y="3407406"/>
            <a:ext cx="2667835" cy="810936"/>
            <a:chOff x="0" y="0"/>
            <a:chExt cx="620299" cy="18855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0" y="0"/>
                  </a:moveTo>
                  <a:lnTo>
                    <a:pt x="620299" y="0"/>
                  </a:lnTo>
                  <a:lnTo>
                    <a:pt x="620299" y="188551"/>
                  </a:lnTo>
                  <a:lnTo>
                    <a:pt x="0" y="188551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ADMIN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4668853" y="5106603"/>
            <a:ext cx="1858783" cy="2750241"/>
          </a:xfrm>
          <a:custGeom>
            <a:avLst/>
            <a:gdLst/>
            <a:ahLst/>
            <a:cxnLst/>
            <a:rect r="r" b="b" t="t" l="l"/>
            <a:pathLst>
              <a:path h="2750241" w="1858783">
                <a:moveTo>
                  <a:pt x="0" y="0"/>
                </a:moveTo>
                <a:lnTo>
                  <a:pt x="1858783" y="0"/>
                </a:lnTo>
                <a:lnTo>
                  <a:pt x="1858783" y="2750241"/>
                </a:lnTo>
                <a:lnTo>
                  <a:pt x="0" y="27502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7994414" y="5066851"/>
            <a:ext cx="2829745" cy="2829745"/>
          </a:xfrm>
          <a:custGeom>
            <a:avLst/>
            <a:gdLst/>
            <a:ahLst/>
            <a:cxnLst/>
            <a:rect r="r" b="b" t="t" l="l"/>
            <a:pathLst>
              <a:path h="2829745" w="2829745">
                <a:moveTo>
                  <a:pt x="0" y="0"/>
                </a:moveTo>
                <a:lnTo>
                  <a:pt x="2829745" y="0"/>
                </a:lnTo>
                <a:lnTo>
                  <a:pt x="2829745" y="2829745"/>
                </a:lnTo>
                <a:lnTo>
                  <a:pt x="0" y="282974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612113" y="286642"/>
          <a:ext cx="11291915" cy="8229600"/>
        </p:xfrm>
        <a:graphic>
          <a:graphicData uri="http://schemas.openxmlformats.org/presentationml/2006/ole">
            <p:oleObj imgW="13550900" imgH="104775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7675887" y="9399905"/>
            <a:ext cx="612113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785357" y="538989"/>
            <a:ext cx="7162260" cy="1961344"/>
            <a:chOff x="0" y="0"/>
            <a:chExt cx="1012764" cy="2773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12764" cy="277340"/>
            </a:xfrm>
            <a:custGeom>
              <a:avLst/>
              <a:gdLst/>
              <a:ahLst/>
              <a:cxnLst/>
              <a:rect r="r" b="b" t="t" l="l"/>
              <a:pathLst>
                <a:path h="277340" w="1012764">
                  <a:moveTo>
                    <a:pt x="809564" y="0"/>
                  </a:moveTo>
                  <a:lnTo>
                    <a:pt x="0" y="0"/>
                  </a:lnTo>
                  <a:lnTo>
                    <a:pt x="203200" y="277340"/>
                  </a:lnTo>
                  <a:lnTo>
                    <a:pt x="1012764" y="277340"/>
                  </a:lnTo>
                  <a:lnTo>
                    <a:pt x="809564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809564" cy="2963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878202" y="4555916"/>
            <a:ext cx="2340497" cy="2592195"/>
          </a:xfrm>
          <a:custGeom>
            <a:avLst/>
            <a:gdLst/>
            <a:ahLst/>
            <a:cxnLst/>
            <a:rect r="r" b="b" t="t" l="l"/>
            <a:pathLst>
              <a:path h="2592195" w="2340497">
                <a:moveTo>
                  <a:pt x="0" y="0"/>
                </a:moveTo>
                <a:lnTo>
                  <a:pt x="2340498" y="0"/>
                </a:lnTo>
                <a:lnTo>
                  <a:pt x="2340498" y="2592195"/>
                </a:lnTo>
                <a:lnTo>
                  <a:pt x="0" y="25921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048451" y="6513095"/>
            <a:ext cx="1510002" cy="1557831"/>
          </a:xfrm>
          <a:custGeom>
            <a:avLst/>
            <a:gdLst/>
            <a:ahLst/>
            <a:cxnLst/>
            <a:rect r="r" b="b" t="t" l="l"/>
            <a:pathLst>
              <a:path h="1557831" w="1510002">
                <a:moveTo>
                  <a:pt x="0" y="0"/>
                </a:moveTo>
                <a:lnTo>
                  <a:pt x="1510002" y="0"/>
                </a:lnTo>
                <a:lnTo>
                  <a:pt x="1510002" y="1557831"/>
                </a:lnTo>
                <a:lnTo>
                  <a:pt x="0" y="15578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556940" y="256829"/>
            <a:ext cx="12978186" cy="9620080"/>
          </a:xfrm>
          <a:custGeom>
            <a:avLst/>
            <a:gdLst/>
            <a:ahLst/>
            <a:cxnLst/>
            <a:rect r="r" b="b" t="t" l="l"/>
            <a:pathLst>
              <a:path h="9620080" w="12978186">
                <a:moveTo>
                  <a:pt x="0" y="0"/>
                </a:moveTo>
                <a:lnTo>
                  <a:pt x="12978186" y="0"/>
                </a:lnTo>
                <a:lnTo>
                  <a:pt x="12978186" y="9620080"/>
                </a:lnTo>
                <a:lnTo>
                  <a:pt x="0" y="96200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2517" y="918729"/>
            <a:ext cx="2690935" cy="11447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98"/>
              </a:lnSpc>
              <a:spcBef>
                <a:spcPct val="0"/>
              </a:spcBef>
            </a:pPr>
            <a:r>
              <a:rPr lang="en-US" sz="3332" spc="26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BASE DE DATOS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113308" y="823034"/>
            <a:ext cx="19354610" cy="1461811"/>
            <a:chOff x="0" y="0"/>
            <a:chExt cx="1876002" cy="14169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41690"/>
            </a:xfrm>
            <a:custGeom>
              <a:avLst/>
              <a:gdLst/>
              <a:ahLst/>
              <a:cxnLst/>
              <a:rect r="r" b="b" t="t" l="l"/>
              <a:pathLst>
                <a:path h="141690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41690"/>
                  </a:lnTo>
                  <a:lnTo>
                    <a:pt x="1876002" y="141690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607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74853" y="3466122"/>
            <a:ext cx="5008014" cy="859690"/>
            <a:chOff x="0" y="0"/>
            <a:chExt cx="1164415" cy="1998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64415" cy="199887"/>
            </a:xfrm>
            <a:custGeom>
              <a:avLst/>
              <a:gdLst/>
              <a:ahLst/>
              <a:cxnLst/>
              <a:rect r="r" b="b" t="t" l="l"/>
              <a:pathLst>
                <a:path h="199887" w="1164415">
                  <a:moveTo>
                    <a:pt x="0" y="0"/>
                  </a:moveTo>
                  <a:lnTo>
                    <a:pt x="1164415" y="0"/>
                  </a:lnTo>
                  <a:lnTo>
                    <a:pt x="1164415" y="199887"/>
                  </a:lnTo>
                  <a:lnTo>
                    <a:pt x="0" y="199887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1164415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APLICACIÓN CLIENTE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540893" y="3279111"/>
            <a:ext cx="5686178" cy="1325286"/>
            <a:chOff x="0" y="0"/>
            <a:chExt cx="1322095" cy="30814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22095" cy="308143"/>
            </a:xfrm>
            <a:custGeom>
              <a:avLst/>
              <a:gdLst/>
              <a:ahLst/>
              <a:cxnLst/>
              <a:rect r="r" b="b" t="t" l="l"/>
              <a:pathLst>
                <a:path h="308143" w="1322095">
                  <a:moveTo>
                    <a:pt x="0" y="0"/>
                  </a:moveTo>
                  <a:lnTo>
                    <a:pt x="1322095" y="0"/>
                  </a:lnTo>
                  <a:lnTo>
                    <a:pt x="1322095" y="308143"/>
                  </a:lnTo>
                  <a:lnTo>
                    <a:pt x="0" y="308143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322095" cy="384343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SERVICIOS EN LA NUBE (BaaS)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147110" y="3466122"/>
            <a:ext cx="4778411" cy="859690"/>
            <a:chOff x="0" y="0"/>
            <a:chExt cx="1111030" cy="19988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11030" cy="199887"/>
            </a:xfrm>
            <a:custGeom>
              <a:avLst/>
              <a:gdLst/>
              <a:ahLst/>
              <a:cxnLst/>
              <a:rect r="r" b="b" t="t" l="l"/>
              <a:pathLst>
                <a:path h="199887" w="1111030">
                  <a:moveTo>
                    <a:pt x="0" y="0"/>
                  </a:moveTo>
                  <a:lnTo>
                    <a:pt x="1111030" y="0"/>
                  </a:lnTo>
                  <a:lnTo>
                    <a:pt x="1111030" y="199887"/>
                  </a:lnTo>
                  <a:lnTo>
                    <a:pt x="0" y="199887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76200"/>
              <a:ext cx="111103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CI/CD &amp; PRODUCCIÓN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352677" y="5143500"/>
            <a:ext cx="5052366" cy="4114800"/>
            <a:chOff x="0" y="0"/>
            <a:chExt cx="1174727" cy="95673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74728" cy="956734"/>
            </a:xfrm>
            <a:custGeom>
              <a:avLst/>
              <a:gdLst/>
              <a:ahLst/>
              <a:cxnLst/>
              <a:rect r="r" b="b" t="t" l="l"/>
              <a:pathLst>
                <a:path h="956734" w="1174728">
                  <a:moveTo>
                    <a:pt x="0" y="0"/>
                  </a:moveTo>
                  <a:lnTo>
                    <a:pt x="1174728" y="0"/>
                  </a:lnTo>
                  <a:lnTo>
                    <a:pt x="1174728" y="956734"/>
                  </a:lnTo>
                  <a:lnTo>
                    <a:pt x="0" y="9567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76200"/>
              <a:ext cx="1174727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460334" y="5303959"/>
            <a:ext cx="1896941" cy="1896941"/>
          </a:xfrm>
          <a:custGeom>
            <a:avLst/>
            <a:gdLst/>
            <a:ahLst/>
            <a:cxnLst/>
            <a:rect r="r" b="b" t="t" l="l"/>
            <a:pathLst>
              <a:path h="1896941" w="1896941">
                <a:moveTo>
                  <a:pt x="0" y="0"/>
                </a:moveTo>
                <a:lnTo>
                  <a:pt x="1896940" y="0"/>
                </a:lnTo>
                <a:lnTo>
                  <a:pt x="1896940" y="1896941"/>
                </a:lnTo>
                <a:lnTo>
                  <a:pt x="0" y="18969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6540893" y="5143500"/>
            <a:ext cx="5665497" cy="4114800"/>
            <a:chOff x="0" y="0"/>
            <a:chExt cx="1317287" cy="95673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317287" cy="956734"/>
            </a:xfrm>
            <a:custGeom>
              <a:avLst/>
              <a:gdLst/>
              <a:ahLst/>
              <a:cxnLst/>
              <a:rect r="r" b="b" t="t" l="l"/>
              <a:pathLst>
                <a:path h="956734" w="1317287">
                  <a:moveTo>
                    <a:pt x="0" y="0"/>
                  </a:moveTo>
                  <a:lnTo>
                    <a:pt x="1317287" y="0"/>
                  </a:lnTo>
                  <a:lnTo>
                    <a:pt x="1317287" y="956734"/>
                  </a:lnTo>
                  <a:lnTo>
                    <a:pt x="0" y="9567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76200"/>
              <a:ext cx="1317287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7152242" y="6132173"/>
            <a:ext cx="2071830" cy="2137454"/>
          </a:xfrm>
          <a:custGeom>
            <a:avLst/>
            <a:gdLst/>
            <a:ahLst/>
            <a:cxnLst/>
            <a:rect r="r" b="b" t="t" l="l"/>
            <a:pathLst>
              <a:path h="2137454" w="2071830">
                <a:moveTo>
                  <a:pt x="0" y="0"/>
                </a:moveTo>
                <a:lnTo>
                  <a:pt x="2071830" y="0"/>
                </a:lnTo>
                <a:lnTo>
                  <a:pt x="2071830" y="2137454"/>
                </a:lnTo>
                <a:lnTo>
                  <a:pt x="0" y="21374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9538397" y="5969473"/>
            <a:ext cx="2300154" cy="2300154"/>
          </a:xfrm>
          <a:custGeom>
            <a:avLst/>
            <a:gdLst/>
            <a:ahLst/>
            <a:cxnLst/>
            <a:rect r="r" b="b" t="t" l="l"/>
            <a:pathLst>
              <a:path h="2300154" w="2300154">
                <a:moveTo>
                  <a:pt x="0" y="0"/>
                </a:moveTo>
                <a:lnTo>
                  <a:pt x="2300154" y="0"/>
                </a:lnTo>
                <a:lnTo>
                  <a:pt x="2300154" y="2300154"/>
                </a:lnTo>
                <a:lnTo>
                  <a:pt x="0" y="23001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3" id="23"/>
          <p:cNvGrpSpPr/>
          <p:nvPr/>
        </p:nvGrpSpPr>
        <p:grpSpPr>
          <a:xfrm rot="0">
            <a:off x="13147110" y="5062150"/>
            <a:ext cx="4778411" cy="4114800"/>
            <a:chOff x="0" y="0"/>
            <a:chExt cx="1111030" cy="95673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11030" cy="956734"/>
            </a:xfrm>
            <a:custGeom>
              <a:avLst/>
              <a:gdLst/>
              <a:ahLst/>
              <a:cxnLst/>
              <a:rect r="r" b="b" t="t" l="l"/>
              <a:pathLst>
                <a:path h="956734" w="1111030">
                  <a:moveTo>
                    <a:pt x="0" y="0"/>
                  </a:moveTo>
                  <a:lnTo>
                    <a:pt x="1111030" y="0"/>
                  </a:lnTo>
                  <a:lnTo>
                    <a:pt x="1111030" y="956734"/>
                  </a:lnTo>
                  <a:lnTo>
                    <a:pt x="0" y="9567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76200"/>
              <a:ext cx="1111030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3292160" y="5317149"/>
            <a:ext cx="4388901" cy="1623893"/>
          </a:xfrm>
          <a:custGeom>
            <a:avLst/>
            <a:gdLst/>
            <a:ahLst/>
            <a:cxnLst/>
            <a:rect r="r" b="b" t="t" l="l"/>
            <a:pathLst>
              <a:path h="1623893" w="4388901">
                <a:moveTo>
                  <a:pt x="0" y="0"/>
                </a:moveTo>
                <a:lnTo>
                  <a:pt x="4388901" y="0"/>
                </a:lnTo>
                <a:lnTo>
                  <a:pt x="4388901" y="1623893"/>
                </a:lnTo>
                <a:lnTo>
                  <a:pt x="0" y="162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3568872" y="7220355"/>
            <a:ext cx="4112190" cy="1956595"/>
          </a:xfrm>
          <a:custGeom>
            <a:avLst/>
            <a:gdLst/>
            <a:ahLst/>
            <a:cxnLst/>
            <a:rect r="r" b="b" t="t" l="l"/>
            <a:pathLst>
              <a:path h="1956595" w="4112190">
                <a:moveTo>
                  <a:pt x="0" y="0"/>
                </a:moveTo>
                <a:lnTo>
                  <a:pt x="4112189" y="0"/>
                </a:lnTo>
                <a:lnTo>
                  <a:pt x="4112189" y="1956595"/>
                </a:lnTo>
                <a:lnTo>
                  <a:pt x="0" y="19565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18339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721964" y="7609486"/>
            <a:ext cx="2156896" cy="1320282"/>
          </a:xfrm>
          <a:custGeom>
            <a:avLst/>
            <a:gdLst/>
            <a:ahLst/>
            <a:cxnLst/>
            <a:rect r="r" b="b" t="t" l="l"/>
            <a:pathLst>
              <a:path h="1320282" w="2156896">
                <a:moveTo>
                  <a:pt x="0" y="0"/>
                </a:moveTo>
                <a:lnTo>
                  <a:pt x="2156896" y="0"/>
                </a:lnTo>
                <a:lnTo>
                  <a:pt x="2156896" y="1320282"/>
                </a:lnTo>
                <a:lnTo>
                  <a:pt x="0" y="132028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3196508" y="5756930"/>
            <a:ext cx="1660848" cy="1660848"/>
          </a:xfrm>
          <a:custGeom>
            <a:avLst/>
            <a:gdLst/>
            <a:ahLst/>
            <a:cxnLst/>
            <a:rect r="r" b="b" t="t" l="l"/>
            <a:pathLst>
              <a:path h="1660848" w="1660848">
                <a:moveTo>
                  <a:pt x="0" y="0"/>
                </a:moveTo>
                <a:lnTo>
                  <a:pt x="1660848" y="0"/>
                </a:lnTo>
                <a:lnTo>
                  <a:pt x="1660848" y="1660847"/>
                </a:lnTo>
                <a:lnTo>
                  <a:pt x="0" y="166084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grpSp>
        <p:nvGrpSpPr>
          <p:cNvPr name="Group 30" id="30"/>
          <p:cNvGrpSpPr/>
          <p:nvPr/>
        </p:nvGrpSpPr>
        <p:grpSpPr>
          <a:xfrm rot="0">
            <a:off x="5500146" y="6661244"/>
            <a:ext cx="869445" cy="539656"/>
            <a:chOff x="0" y="0"/>
            <a:chExt cx="736600" cy="4572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36600" cy="457200"/>
            </a:xfrm>
            <a:custGeom>
              <a:avLst/>
              <a:gdLst/>
              <a:ahLst/>
              <a:cxnLst/>
              <a:rect r="r" b="b" t="t" l="l"/>
              <a:pathLst>
                <a:path h="457200" w="736600">
                  <a:moveTo>
                    <a:pt x="736600" y="228606"/>
                  </a:moveTo>
                  <a:lnTo>
                    <a:pt x="476634" y="457200"/>
                  </a:lnTo>
                  <a:lnTo>
                    <a:pt x="492392" y="332453"/>
                  </a:lnTo>
                  <a:lnTo>
                    <a:pt x="244208" y="332453"/>
                  </a:lnTo>
                  <a:lnTo>
                    <a:pt x="259966" y="457200"/>
                  </a:lnTo>
                  <a:lnTo>
                    <a:pt x="0" y="228606"/>
                  </a:lnTo>
                  <a:lnTo>
                    <a:pt x="259966" y="0"/>
                  </a:lnTo>
                  <a:lnTo>
                    <a:pt x="244196" y="124785"/>
                  </a:lnTo>
                  <a:lnTo>
                    <a:pt x="492404" y="124785"/>
                  </a:lnTo>
                  <a:lnTo>
                    <a:pt x="476634" y="0"/>
                  </a:lnTo>
                  <a:lnTo>
                    <a:pt x="736600" y="228606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114300" y="107950"/>
              <a:ext cx="50800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-10800000">
            <a:off x="12314970" y="6661244"/>
            <a:ext cx="723560" cy="595873"/>
            <a:chOff x="0" y="0"/>
            <a:chExt cx="647700" cy="533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47700" cy="533400"/>
            </a:xfrm>
            <a:custGeom>
              <a:avLst/>
              <a:gdLst/>
              <a:ahLst/>
              <a:cxnLst/>
              <a:rect r="r" b="b" t="t" l="l"/>
              <a:pathLst>
                <a:path h="533400" w="647700">
                  <a:moveTo>
                    <a:pt x="239386" y="166418"/>
                  </a:moveTo>
                  <a:lnTo>
                    <a:pt x="647700" y="166418"/>
                  </a:lnTo>
                  <a:lnTo>
                    <a:pt x="647700" y="366942"/>
                  </a:lnTo>
                  <a:lnTo>
                    <a:pt x="239373" y="366942"/>
                  </a:lnTo>
                  <a:lnTo>
                    <a:pt x="302255" y="533400"/>
                  </a:lnTo>
                  <a:lnTo>
                    <a:pt x="0" y="266700"/>
                  </a:lnTo>
                  <a:lnTo>
                    <a:pt x="302255" y="0"/>
                  </a:lnTo>
                  <a:lnTo>
                    <a:pt x="239386" y="166418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120650" y="146050"/>
              <a:ext cx="52705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87589" y="1117644"/>
            <a:ext cx="10250962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STACK TECNOLÓGICO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227072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Continua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485190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REST API &amp; Tiempo Real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113308" y="628226"/>
            <a:ext cx="19354610" cy="2018746"/>
            <a:chOff x="0" y="0"/>
            <a:chExt cx="1876002" cy="1956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95673"/>
            </a:xfrm>
            <a:custGeom>
              <a:avLst/>
              <a:gdLst/>
              <a:ahLst/>
              <a:cxnLst/>
              <a:rect r="r" b="b" t="t" l="l"/>
              <a:pathLst>
                <a:path h="195673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95673"/>
                  </a:lnTo>
                  <a:lnTo>
                    <a:pt x="1876002" y="195673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214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48207" y="3230295"/>
            <a:ext cx="4068484" cy="1325286"/>
            <a:chOff x="0" y="0"/>
            <a:chExt cx="945965" cy="30814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45965" cy="308143"/>
            </a:xfrm>
            <a:custGeom>
              <a:avLst/>
              <a:gdLst/>
              <a:ahLst/>
              <a:cxnLst/>
              <a:rect r="r" b="b" t="t" l="l"/>
              <a:pathLst>
                <a:path h="308143" w="945965">
                  <a:moveTo>
                    <a:pt x="0" y="0"/>
                  </a:moveTo>
                  <a:lnTo>
                    <a:pt x="945965" y="0"/>
                  </a:lnTo>
                  <a:lnTo>
                    <a:pt x="945965" y="308143"/>
                  </a:lnTo>
                  <a:lnTo>
                    <a:pt x="0" y="308143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945965" cy="384343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Asistente virtual contextual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5301385" y="3230295"/>
            <a:ext cx="4695526" cy="1325286"/>
            <a:chOff x="0" y="0"/>
            <a:chExt cx="1091759" cy="30814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1759" cy="308143"/>
            </a:xfrm>
            <a:custGeom>
              <a:avLst/>
              <a:gdLst/>
              <a:ahLst/>
              <a:cxnLst/>
              <a:rect r="r" b="b" t="t" l="l"/>
              <a:pathLst>
                <a:path h="308143" w="1091759">
                  <a:moveTo>
                    <a:pt x="0" y="0"/>
                  </a:moveTo>
                  <a:lnTo>
                    <a:pt x="1091759" y="0"/>
                  </a:lnTo>
                  <a:lnTo>
                    <a:pt x="1091759" y="308143"/>
                  </a:lnTo>
                  <a:lnTo>
                    <a:pt x="0" y="308143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091759" cy="384343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Alertas en tiempo real mediante Bot API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852097" y="3230295"/>
            <a:ext cx="4778411" cy="859690"/>
            <a:chOff x="0" y="0"/>
            <a:chExt cx="1111030" cy="19988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11030" cy="199887"/>
            </a:xfrm>
            <a:custGeom>
              <a:avLst/>
              <a:gdLst/>
              <a:ahLst/>
              <a:cxnLst/>
              <a:rect r="r" b="b" t="t" l="l"/>
              <a:pathLst>
                <a:path h="199887" w="1111030">
                  <a:moveTo>
                    <a:pt x="0" y="0"/>
                  </a:moveTo>
                  <a:lnTo>
                    <a:pt x="1111030" y="0"/>
                  </a:lnTo>
                  <a:lnTo>
                    <a:pt x="1111030" y="199887"/>
                  </a:lnTo>
                  <a:lnTo>
                    <a:pt x="0" y="199887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76200"/>
              <a:ext cx="111103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Seguridad Avanzada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27068" y="5143500"/>
            <a:ext cx="4710763" cy="3386070"/>
            <a:chOff x="0" y="0"/>
            <a:chExt cx="1095301" cy="78729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95301" cy="787296"/>
            </a:xfrm>
            <a:custGeom>
              <a:avLst/>
              <a:gdLst/>
              <a:ahLst/>
              <a:cxnLst/>
              <a:rect r="r" b="b" t="t" l="l"/>
              <a:pathLst>
                <a:path h="787296" w="1095301">
                  <a:moveTo>
                    <a:pt x="0" y="0"/>
                  </a:moveTo>
                  <a:lnTo>
                    <a:pt x="1095301" y="0"/>
                  </a:lnTo>
                  <a:lnTo>
                    <a:pt x="1095301" y="787296"/>
                  </a:lnTo>
                  <a:lnTo>
                    <a:pt x="0" y="78729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76200"/>
              <a:ext cx="1095301" cy="863496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5257649" y="5138904"/>
            <a:ext cx="4739262" cy="3390666"/>
            <a:chOff x="0" y="0"/>
            <a:chExt cx="1101928" cy="78836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101928" cy="788365"/>
            </a:xfrm>
            <a:custGeom>
              <a:avLst/>
              <a:gdLst/>
              <a:ahLst/>
              <a:cxnLst/>
              <a:rect r="r" b="b" t="t" l="l"/>
              <a:pathLst>
                <a:path h="788365" w="1101928">
                  <a:moveTo>
                    <a:pt x="0" y="0"/>
                  </a:moveTo>
                  <a:lnTo>
                    <a:pt x="1101928" y="0"/>
                  </a:lnTo>
                  <a:lnTo>
                    <a:pt x="1101928" y="788365"/>
                  </a:lnTo>
                  <a:lnTo>
                    <a:pt x="0" y="78836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76200"/>
              <a:ext cx="1101928" cy="86456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342878" y="4555581"/>
            <a:ext cx="3600017" cy="909828"/>
            <a:chOff x="0" y="0"/>
            <a:chExt cx="837041" cy="21154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37041" cy="211545"/>
            </a:xfrm>
            <a:custGeom>
              <a:avLst/>
              <a:gdLst/>
              <a:ahLst/>
              <a:cxnLst/>
              <a:rect r="r" b="b" t="t" l="l"/>
              <a:pathLst>
                <a:path h="211545" w="837041">
                  <a:moveTo>
                    <a:pt x="0" y="0"/>
                  </a:moveTo>
                  <a:lnTo>
                    <a:pt x="837041" y="0"/>
                  </a:lnTo>
                  <a:lnTo>
                    <a:pt x="837041" y="211545"/>
                  </a:lnTo>
                  <a:lnTo>
                    <a:pt x="0" y="211545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837041" cy="26869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2760"/>
                </a:lnSpc>
                <a:spcBef>
                  <a:spcPct val="0"/>
                </a:spcBef>
              </a:pPr>
              <a:r>
                <a:rPr lang="en-US" b="true" sz="2000" spc="2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Verificación de Identidad (Proof of Ownership)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4239792" y="5010495"/>
            <a:ext cx="3861894" cy="909828"/>
            <a:chOff x="0" y="0"/>
            <a:chExt cx="897930" cy="21154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97930" cy="211545"/>
            </a:xfrm>
            <a:custGeom>
              <a:avLst/>
              <a:gdLst/>
              <a:ahLst/>
              <a:cxnLst/>
              <a:rect r="r" b="b" t="t" l="l"/>
              <a:pathLst>
                <a:path h="211545" w="897930">
                  <a:moveTo>
                    <a:pt x="0" y="0"/>
                  </a:moveTo>
                  <a:lnTo>
                    <a:pt x="897930" y="0"/>
                  </a:lnTo>
                  <a:lnTo>
                    <a:pt x="897930" y="211545"/>
                  </a:lnTo>
                  <a:lnTo>
                    <a:pt x="0" y="211545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57150"/>
              <a:ext cx="897930" cy="26869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2760"/>
                </a:lnSpc>
                <a:spcBef>
                  <a:spcPct val="0"/>
                </a:spcBef>
              </a:pPr>
              <a:r>
                <a:rPr lang="en-US" b="true" sz="2000" spc="2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MFA (Multi-Factor Authentication)</a:t>
              </a: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573972" y="5773408"/>
            <a:ext cx="2016955" cy="2016955"/>
          </a:xfrm>
          <a:custGeom>
            <a:avLst/>
            <a:gdLst/>
            <a:ahLst/>
            <a:cxnLst/>
            <a:rect r="r" b="b" t="t" l="l"/>
            <a:pathLst>
              <a:path h="2016955" w="2016955">
                <a:moveTo>
                  <a:pt x="0" y="0"/>
                </a:moveTo>
                <a:lnTo>
                  <a:pt x="2016955" y="0"/>
                </a:lnTo>
                <a:lnTo>
                  <a:pt x="2016955" y="2016955"/>
                </a:lnTo>
                <a:lnTo>
                  <a:pt x="0" y="201695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6835215" y="5863138"/>
            <a:ext cx="1927226" cy="1927226"/>
          </a:xfrm>
          <a:custGeom>
            <a:avLst/>
            <a:gdLst/>
            <a:ahLst/>
            <a:cxnLst/>
            <a:rect r="r" b="b" t="t" l="l"/>
            <a:pathLst>
              <a:path h="1927226" w="1927226">
                <a:moveTo>
                  <a:pt x="0" y="0"/>
                </a:moveTo>
                <a:lnTo>
                  <a:pt x="1927226" y="0"/>
                </a:lnTo>
                <a:lnTo>
                  <a:pt x="1927226" y="1927225"/>
                </a:lnTo>
                <a:lnTo>
                  <a:pt x="0" y="19272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28" id="28"/>
          <p:cNvGrpSpPr/>
          <p:nvPr/>
        </p:nvGrpSpPr>
        <p:grpSpPr>
          <a:xfrm rot="0">
            <a:off x="10388880" y="5673158"/>
            <a:ext cx="3508012" cy="2856412"/>
            <a:chOff x="0" y="0"/>
            <a:chExt cx="815649" cy="664145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15649" cy="664145"/>
            </a:xfrm>
            <a:custGeom>
              <a:avLst/>
              <a:gdLst/>
              <a:ahLst/>
              <a:cxnLst/>
              <a:rect r="r" b="b" t="t" l="l"/>
              <a:pathLst>
                <a:path h="664145" w="815649">
                  <a:moveTo>
                    <a:pt x="0" y="0"/>
                  </a:moveTo>
                  <a:lnTo>
                    <a:pt x="815649" y="0"/>
                  </a:lnTo>
                  <a:lnTo>
                    <a:pt x="815649" y="664145"/>
                  </a:lnTo>
                  <a:lnTo>
                    <a:pt x="0" y="6641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76200"/>
              <a:ext cx="815649" cy="74034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4287417" y="6128119"/>
            <a:ext cx="3766644" cy="2401451"/>
            <a:chOff x="0" y="0"/>
            <a:chExt cx="875784" cy="55836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875784" cy="558362"/>
            </a:xfrm>
            <a:custGeom>
              <a:avLst/>
              <a:gdLst/>
              <a:ahLst/>
              <a:cxnLst/>
              <a:rect r="r" b="b" t="t" l="l"/>
              <a:pathLst>
                <a:path h="558362" w="875784">
                  <a:moveTo>
                    <a:pt x="0" y="0"/>
                  </a:moveTo>
                  <a:lnTo>
                    <a:pt x="875784" y="0"/>
                  </a:lnTo>
                  <a:lnTo>
                    <a:pt x="875784" y="558362"/>
                  </a:lnTo>
                  <a:lnTo>
                    <a:pt x="0" y="55836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76200"/>
              <a:ext cx="875784" cy="634562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0">
            <a:off x="14358666" y="6300917"/>
            <a:ext cx="3624146" cy="1801066"/>
          </a:xfrm>
          <a:custGeom>
            <a:avLst/>
            <a:gdLst/>
            <a:ahLst/>
            <a:cxnLst/>
            <a:rect r="r" b="b" t="t" l="l"/>
            <a:pathLst>
              <a:path h="1801066" w="3624146">
                <a:moveTo>
                  <a:pt x="0" y="0"/>
                </a:moveTo>
                <a:lnTo>
                  <a:pt x="3624146" y="0"/>
                </a:lnTo>
                <a:lnTo>
                  <a:pt x="3624146" y="1801067"/>
                </a:lnTo>
                <a:lnTo>
                  <a:pt x="0" y="1801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11816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10783786" y="5940983"/>
            <a:ext cx="2788006" cy="2161001"/>
          </a:xfrm>
          <a:custGeom>
            <a:avLst/>
            <a:gdLst/>
            <a:ahLst/>
            <a:cxnLst/>
            <a:rect r="r" b="b" t="t" l="l"/>
            <a:pathLst>
              <a:path h="2161001" w="2788006">
                <a:moveTo>
                  <a:pt x="0" y="0"/>
                </a:moveTo>
                <a:lnTo>
                  <a:pt x="2788006" y="0"/>
                </a:lnTo>
                <a:lnTo>
                  <a:pt x="2788006" y="2161001"/>
                </a:lnTo>
                <a:lnTo>
                  <a:pt x="0" y="216100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2773" t="0" r="-24783" b="0"/>
            </a:stretch>
          </a:blipFill>
        </p:spPr>
      </p:sp>
      <p:sp>
        <p:nvSpPr>
          <p:cNvPr name="TextBox 36" id="36"/>
          <p:cNvSpPr txBox="true"/>
          <p:nvPr/>
        </p:nvSpPr>
        <p:spPr>
          <a:xfrm rot="0">
            <a:off x="1274388" y="786966"/>
            <a:ext cx="9932477" cy="16250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INTEGRACIONES Y SEGURIDAD AVANZADA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6</a:t>
            </a: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7312" y="1028700"/>
            <a:ext cx="15591759" cy="8229600"/>
            <a:chOff x="0" y="0"/>
            <a:chExt cx="410647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06471" cy="2167467"/>
            </a:xfrm>
            <a:custGeom>
              <a:avLst/>
              <a:gdLst/>
              <a:ahLst/>
              <a:cxnLst/>
              <a:rect r="r" b="b" t="t" l="l"/>
              <a:pathLst>
                <a:path h="2167467" w="4106471">
                  <a:moveTo>
                    <a:pt x="0" y="0"/>
                  </a:moveTo>
                  <a:lnTo>
                    <a:pt x="4106471" y="0"/>
                  </a:lnTo>
                  <a:lnTo>
                    <a:pt x="4106471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2553248" y="3332230"/>
            <a:ext cx="1516533" cy="1254586"/>
          </a:xfrm>
          <a:custGeom>
            <a:avLst/>
            <a:gdLst/>
            <a:ahLst/>
            <a:cxnLst/>
            <a:rect r="r" b="b" t="t" l="l"/>
            <a:pathLst>
              <a:path h="1254586" w="1516533">
                <a:moveTo>
                  <a:pt x="0" y="0"/>
                </a:moveTo>
                <a:lnTo>
                  <a:pt x="1516533" y="0"/>
                </a:lnTo>
                <a:lnTo>
                  <a:pt x="1516533" y="1254586"/>
                </a:lnTo>
                <a:lnTo>
                  <a:pt x="0" y="125458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327691" y="3192904"/>
            <a:ext cx="1150967" cy="1559919"/>
          </a:xfrm>
          <a:custGeom>
            <a:avLst/>
            <a:gdLst/>
            <a:ahLst/>
            <a:cxnLst/>
            <a:rect r="r" b="b" t="t" l="l"/>
            <a:pathLst>
              <a:path h="1559919" w="1150967">
                <a:moveTo>
                  <a:pt x="0" y="0"/>
                </a:moveTo>
                <a:lnTo>
                  <a:pt x="1150967" y="0"/>
                </a:lnTo>
                <a:lnTo>
                  <a:pt x="1150967" y="1559919"/>
                </a:lnTo>
                <a:lnTo>
                  <a:pt x="0" y="15599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931760" y="3498338"/>
            <a:ext cx="1635151" cy="1088119"/>
          </a:xfrm>
          <a:custGeom>
            <a:avLst/>
            <a:gdLst/>
            <a:ahLst/>
            <a:cxnLst/>
            <a:rect r="r" b="b" t="t" l="l"/>
            <a:pathLst>
              <a:path h="1088119" w="1635151">
                <a:moveTo>
                  <a:pt x="0" y="0"/>
                </a:moveTo>
                <a:lnTo>
                  <a:pt x="1635151" y="0"/>
                </a:lnTo>
                <a:lnTo>
                  <a:pt x="1635151" y="1088119"/>
                </a:lnTo>
                <a:lnTo>
                  <a:pt x="0" y="108811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020014" y="3331972"/>
            <a:ext cx="1433886" cy="1420851"/>
          </a:xfrm>
          <a:custGeom>
            <a:avLst/>
            <a:gdLst/>
            <a:ahLst/>
            <a:cxnLst/>
            <a:rect r="r" b="b" t="t" l="l"/>
            <a:pathLst>
              <a:path h="1420851" w="1433886">
                <a:moveTo>
                  <a:pt x="0" y="0"/>
                </a:moveTo>
                <a:lnTo>
                  <a:pt x="1433887" y="0"/>
                </a:lnTo>
                <a:lnTo>
                  <a:pt x="1433887" y="1420851"/>
                </a:lnTo>
                <a:lnTo>
                  <a:pt x="0" y="142085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3156807" y="5310623"/>
            <a:ext cx="3351392" cy="25591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000" spc="196" b="true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Expansión del Módulo de Inteligencia Artificial. Matchmaking Inteligente.</a:t>
            </a:r>
          </a:p>
          <a:p>
            <a:pPr algn="l">
              <a:lnSpc>
                <a:spcPts val="2207"/>
              </a:lnSpc>
            </a:pPr>
          </a:p>
          <a:p>
            <a:pPr algn="l">
              <a:lnSpc>
                <a:spcPts val="2207"/>
              </a:lnSpc>
            </a:pPr>
          </a:p>
          <a:p>
            <a:pPr algn="l" marL="0" indent="0" lvl="0">
              <a:lnSpc>
                <a:spcPts val="2207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3830917" y="1754882"/>
            <a:ext cx="10906040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b="true" sz="4745" spc="37">
                <a:solidFill>
                  <a:srgbClr val="51786E"/>
                </a:solidFill>
                <a:latin typeface="Fraunces Bold"/>
                <a:ea typeface="Fraunces Bold"/>
                <a:cs typeface="Fraunces Bold"/>
                <a:sym typeface="Fraunces Bold"/>
              </a:rPr>
              <a:t>FUTURAS MEJORAS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7</a:t>
            </a: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937915" y="5310623"/>
            <a:ext cx="2970137" cy="31116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1999" spc="195" b="true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de Pasarela de Pago y Modelo de Negocio (como Stripe o PayPal).</a:t>
            </a:r>
          </a:p>
          <a:p>
            <a:pPr algn="l">
              <a:lnSpc>
                <a:spcPts val="2208"/>
              </a:lnSpc>
            </a:pPr>
          </a:p>
          <a:p>
            <a:pPr algn="l">
              <a:lnSpc>
                <a:spcPts val="2208"/>
              </a:lnSpc>
            </a:pPr>
          </a:p>
          <a:p>
            <a:pPr algn="l">
              <a:lnSpc>
                <a:spcPts val="2208"/>
              </a:lnSpc>
            </a:pPr>
          </a:p>
          <a:p>
            <a:pPr algn="l">
              <a:lnSpc>
                <a:spcPts val="2208"/>
              </a:lnSpc>
            </a:pPr>
          </a:p>
          <a:p>
            <a:pPr algn="l" marL="0" indent="0" lvl="0">
              <a:lnSpc>
                <a:spcPts val="2208"/>
              </a:lnSpc>
              <a:spcBef>
                <a:spcPct val="0"/>
              </a:spcBef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5446905" y="5310623"/>
            <a:ext cx="3440283" cy="3454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000" spc="196" b="true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Sistema de Valoraciones.  Los usuarios podrán leer las reseñas de otros clientes sobre un servicio y/o empresa.</a:t>
            </a:r>
          </a:p>
          <a:p>
            <a:pPr algn="l">
              <a:lnSpc>
                <a:spcPts val="2247"/>
              </a:lnSpc>
            </a:pPr>
          </a:p>
          <a:p>
            <a:pPr algn="l">
              <a:lnSpc>
                <a:spcPts val="2247"/>
              </a:lnSpc>
            </a:pPr>
          </a:p>
          <a:p>
            <a:pPr algn="l">
              <a:lnSpc>
                <a:spcPts val="2247"/>
              </a:lnSpc>
            </a:pPr>
          </a:p>
          <a:p>
            <a:pPr algn="l">
              <a:lnSpc>
                <a:spcPts val="2247"/>
              </a:lnSpc>
            </a:pPr>
          </a:p>
          <a:p>
            <a:pPr algn="l" marL="0" indent="0" lvl="0">
              <a:lnSpc>
                <a:spcPts val="2247"/>
              </a:lnSpc>
              <a:spcBef>
                <a:spcPct val="0"/>
              </a:spcBef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9430113" y="5310623"/>
            <a:ext cx="3336395" cy="3178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000" spc="196" b="true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Entrevistas por Videollamada (WebRTC) integrado directamente en el chat de la aplicación.</a:t>
            </a:r>
          </a:p>
          <a:p>
            <a:pPr algn="l">
              <a:lnSpc>
                <a:spcPts val="2207"/>
              </a:lnSpc>
            </a:pPr>
          </a:p>
          <a:p>
            <a:pPr algn="l">
              <a:lnSpc>
                <a:spcPts val="2207"/>
              </a:lnSpc>
            </a:pPr>
          </a:p>
          <a:p>
            <a:pPr algn="l">
              <a:lnSpc>
                <a:spcPts val="2207"/>
              </a:lnSpc>
            </a:pPr>
          </a:p>
          <a:p>
            <a:pPr algn="l" marL="0" indent="0" lvl="0">
              <a:lnSpc>
                <a:spcPts val="2207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545528" y="1988168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1588190" y="4952409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>
            <a:hlinkClick r:id="rId4" tooltip="https://www.conectacuidados.eu"/>
          </p:cNvPr>
          <p:cNvSpPr/>
          <p:nvPr/>
        </p:nvSpPr>
        <p:spPr>
          <a:xfrm flipH="false" flipV="false" rot="0">
            <a:off x="5305621" y="4048366"/>
            <a:ext cx="5936428" cy="3730691"/>
          </a:xfrm>
          <a:custGeom>
            <a:avLst/>
            <a:gdLst/>
            <a:ahLst/>
            <a:cxnLst/>
            <a:rect r="r" b="b" t="t" l="l"/>
            <a:pathLst>
              <a:path h="3730691" w="5936428">
                <a:moveTo>
                  <a:pt x="0" y="0"/>
                </a:moveTo>
                <a:lnTo>
                  <a:pt x="5936427" y="0"/>
                </a:lnTo>
                <a:lnTo>
                  <a:pt x="5936427" y="3730691"/>
                </a:lnTo>
                <a:lnTo>
                  <a:pt x="0" y="37306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6501595" y="2562685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8</a:t>
            </a: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545528" y="1988168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545528" y="2807187"/>
            <a:ext cx="3618799" cy="4672626"/>
          </a:xfrm>
          <a:custGeom>
            <a:avLst/>
            <a:gdLst/>
            <a:ahLst/>
            <a:cxnLst/>
            <a:rect r="r" b="b" t="t" l="l"/>
            <a:pathLst>
              <a:path h="4672626" w="3618799">
                <a:moveTo>
                  <a:pt x="0" y="0"/>
                </a:moveTo>
                <a:lnTo>
                  <a:pt x="3618799" y="0"/>
                </a:lnTo>
                <a:lnTo>
                  <a:pt x="3618799" y="4672626"/>
                </a:lnTo>
                <a:lnTo>
                  <a:pt x="0" y="46726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373992" y="1988168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8"/>
                </a:lnTo>
                <a:lnTo>
                  <a:pt x="0" y="11521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042806" y="6599166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7164327" y="3948095"/>
            <a:ext cx="5504569" cy="3082558"/>
          </a:xfrm>
          <a:custGeom>
            <a:avLst/>
            <a:gdLst/>
            <a:ahLst/>
            <a:cxnLst/>
            <a:rect r="r" b="b" t="t" l="l"/>
            <a:pathLst>
              <a:path h="3082558" w="5504569">
                <a:moveTo>
                  <a:pt x="0" y="0"/>
                </a:moveTo>
                <a:lnTo>
                  <a:pt x="5504569" y="0"/>
                </a:lnTo>
                <a:lnTo>
                  <a:pt x="5504569" y="3082558"/>
                </a:lnTo>
                <a:lnTo>
                  <a:pt x="0" y="308255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DAG2b7D6YUg</dc:identifier>
  <dcterms:modified xsi:type="dcterms:W3CDTF">2011-08-01T06:04:30Z</dcterms:modified>
  <cp:revision>1</cp:revision>
  <dc:title>cuidaDos</dc:title>
</cp:coreProperties>
</file>