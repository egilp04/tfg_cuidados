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Montserrat Bold" charset="1" panose="00000800000000000000"/>
      <p:regular r:id="rId16"/>
    </p:embeddedFont>
    <p:embeddedFont>
      <p:font typeface="Montserrat" charset="1" panose="00000500000000000000"/>
      <p:regular r:id="rId17"/>
    </p:embeddedFont>
    <p:embeddedFont>
      <p:font typeface="Poppins" charset="1" panose="00000500000000000000"/>
      <p:regular r:id="rId18"/>
    </p:embeddedFont>
    <p:embeddedFont>
      <p:font typeface="Fraunces Bold" charset="1" panose="00000000000000000000"/>
      <p:regular r:id="rId19"/>
    </p:embeddedFont>
    <p:embeddedFont>
      <p:font typeface="Open Sans Bold" charset="1" panose="020B0806030504020204"/>
      <p:regular r:id="rId20"/>
    </p:embeddedFont>
    <p:embeddedFont>
      <p:font typeface="Poppins Bold" charset="1" panose="00000800000000000000"/>
      <p:regular r:id="rId21"/>
    </p:embeddedFont>
    <p:embeddedFont>
      <p:font typeface="Fraunces" charset="1" panose="000000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4.png" Type="http://schemas.openxmlformats.org/officeDocument/2006/relationships/image"/><Relationship Id="rId4" Target="../media/image17.png" Type="http://schemas.openxmlformats.org/officeDocument/2006/relationships/image"/><Relationship Id="rId5" Target="../media/image18.png" Type="http://schemas.openxmlformats.org/officeDocument/2006/relationships/image"/><Relationship Id="rId6" Target="../media/image19.png" Type="http://schemas.openxmlformats.org/officeDocument/2006/relationships/image"/><Relationship Id="rId7" Target="../media/image20.png" Type="http://schemas.openxmlformats.org/officeDocument/2006/relationships/image"/><Relationship Id="rId8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22.png" Type="http://schemas.openxmlformats.org/officeDocument/2006/relationships/image"/><Relationship Id="rId4" Target="https://www.conectacuidados.eu" TargetMode="External" Type="http://schemas.openxmlformats.org/officeDocument/2006/relationships/hyperlink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912991" y="7131081"/>
            <a:ext cx="920403" cy="920403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118589" y="68967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0223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238216" y="4665293"/>
            <a:ext cx="2773099" cy="3580649"/>
          </a:xfrm>
          <a:custGeom>
            <a:avLst/>
            <a:gdLst/>
            <a:ahLst/>
            <a:cxnLst/>
            <a:rect r="r" b="b" t="t" l="l"/>
            <a:pathLst>
              <a:path h="3580649" w="2773099">
                <a:moveTo>
                  <a:pt x="0" y="0"/>
                </a:moveTo>
                <a:lnTo>
                  <a:pt x="2773099" y="0"/>
                </a:lnTo>
                <a:lnTo>
                  <a:pt x="2773099" y="3580649"/>
                </a:lnTo>
                <a:lnTo>
                  <a:pt x="0" y="35806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685626" y="2847670"/>
            <a:ext cx="4272335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ÍNDICE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272387" y="4210793"/>
            <a:ext cx="6060501" cy="4164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Justificación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Roles y permisos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Base de datos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Stack tecnológico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Futuras mejoras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12413" y="0"/>
                  </a:moveTo>
                  <a:lnTo>
                    <a:pt x="4094058" y="0"/>
                  </a:lnTo>
                  <a:cubicBezTo>
                    <a:pt x="4100914" y="0"/>
                    <a:pt x="4106471" y="5558"/>
                    <a:pt x="4106471" y="12413"/>
                  </a:cubicBezTo>
                  <a:lnTo>
                    <a:pt x="4106471" y="2155053"/>
                  </a:lnTo>
                  <a:cubicBezTo>
                    <a:pt x="4106471" y="2158346"/>
                    <a:pt x="4105164" y="2161503"/>
                    <a:pt x="4102836" y="2163831"/>
                  </a:cubicBezTo>
                  <a:cubicBezTo>
                    <a:pt x="4100507" y="2166159"/>
                    <a:pt x="4097350" y="2167467"/>
                    <a:pt x="4094058" y="2167467"/>
                  </a:cubicBezTo>
                  <a:lnTo>
                    <a:pt x="12413" y="2167467"/>
                  </a:lnTo>
                  <a:cubicBezTo>
                    <a:pt x="9121" y="2167467"/>
                    <a:pt x="5964" y="2166159"/>
                    <a:pt x="3636" y="2163831"/>
                  </a:cubicBezTo>
                  <a:cubicBezTo>
                    <a:pt x="1308" y="2161503"/>
                    <a:pt x="0" y="2158346"/>
                    <a:pt x="0" y="2155053"/>
                  </a:cubicBezTo>
                  <a:lnTo>
                    <a:pt x="0" y="12413"/>
                  </a:lnTo>
                  <a:cubicBezTo>
                    <a:pt x="0" y="9121"/>
                    <a:pt x="1308" y="5964"/>
                    <a:pt x="3636" y="3636"/>
                  </a:cubicBezTo>
                  <a:cubicBezTo>
                    <a:pt x="5964" y="1308"/>
                    <a:pt x="9121" y="0"/>
                    <a:pt x="12413" y="0"/>
                  </a:cubicBezTo>
                  <a:close/>
                </a:path>
              </a:pathLst>
            </a:custGeom>
            <a:solidFill>
              <a:srgbClr val="FFFFFF">
                <a:alpha val="8666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264337" y="3655008"/>
            <a:ext cx="4475594" cy="5100938"/>
            <a:chOff x="0" y="0"/>
            <a:chExt cx="1178757" cy="134345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78757" cy="1343457"/>
            </a:xfrm>
            <a:custGeom>
              <a:avLst/>
              <a:gdLst/>
              <a:ahLst/>
              <a:cxnLst/>
              <a:rect r="r" b="b" t="t" l="l"/>
              <a:pathLst>
                <a:path h="1343457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08861"/>
                  </a:lnTo>
                  <a:cubicBezTo>
                    <a:pt x="1178757" y="1327968"/>
                    <a:pt x="1163268" y="1343457"/>
                    <a:pt x="1144161" y="1343457"/>
                  </a:cubicBezTo>
                  <a:lnTo>
                    <a:pt x="34596" y="1343457"/>
                  </a:lnTo>
                  <a:cubicBezTo>
                    <a:pt x="25421" y="1343457"/>
                    <a:pt x="16621" y="1339812"/>
                    <a:pt x="10133" y="1333324"/>
                  </a:cubicBezTo>
                  <a:cubicBezTo>
                    <a:pt x="3645" y="1326836"/>
                    <a:pt x="0" y="1318036"/>
                    <a:pt x="0" y="1308861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178757" cy="13625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959084" y="2802626"/>
            <a:ext cx="3086100" cy="516103"/>
            <a:chOff x="0" y="0"/>
            <a:chExt cx="812800" cy="1359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QUÉ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600950" y="2803064"/>
            <a:ext cx="3086100" cy="516103"/>
            <a:chOff x="0" y="0"/>
            <a:chExt cx="812800" cy="1359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PORQUÉ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579096" y="2828329"/>
            <a:ext cx="3086100" cy="516103"/>
            <a:chOff x="0" y="0"/>
            <a:chExt cx="812800" cy="13592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PARA QUÉ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2635867" y="4059812"/>
            <a:ext cx="3376170" cy="4579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Facilitar la contratación de servicios a los usuarios que los necesiten. 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Solucionar los posibles conflictos facilitando la vida de los usuarios.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Dar visibilidad a empresas más pequeñas.</a:t>
            </a: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7747710" y="4059812"/>
            <a:ext cx="3281419" cy="3936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3"/>
              </a:lnSpc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Cada vez son más las personas que necesitan contratar distintos servicios. </a:t>
            </a:r>
          </a:p>
          <a:p>
            <a:pPr algn="l" marL="0" indent="0" lvl="0">
              <a:lnSpc>
                <a:spcPts val="2873"/>
              </a:lnSpc>
              <a:spcBef>
                <a:spcPct val="0"/>
              </a:spcBef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El objetivo es que los usuarios con un solo click puedan escoger la empresa y el servicio que más se adapte a sus necesidades.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150622" y="3655008"/>
            <a:ext cx="4475594" cy="5151030"/>
            <a:chOff x="0" y="0"/>
            <a:chExt cx="1178757" cy="135665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178757" cy="1356650"/>
            </a:xfrm>
            <a:custGeom>
              <a:avLst/>
              <a:gdLst/>
              <a:ahLst/>
              <a:cxnLst/>
              <a:rect r="r" b="b" t="t" l="l"/>
              <a:pathLst>
                <a:path h="1356650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2054"/>
                  </a:lnTo>
                  <a:cubicBezTo>
                    <a:pt x="1178757" y="1341161"/>
                    <a:pt x="1163268" y="1356650"/>
                    <a:pt x="1144161" y="1356650"/>
                  </a:cubicBezTo>
                  <a:lnTo>
                    <a:pt x="34596" y="1356650"/>
                  </a:lnTo>
                  <a:cubicBezTo>
                    <a:pt x="25421" y="1356650"/>
                    <a:pt x="16621" y="1353005"/>
                    <a:pt x="10133" y="1346517"/>
                  </a:cubicBezTo>
                  <a:cubicBezTo>
                    <a:pt x="3645" y="1340029"/>
                    <a:pt x="0" y="1331229"/>
                    <a:pt x="0" y="1322054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1178757" cy="1404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0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2178667" y="3623212"/>
            <a:ext cx="4475594" cy="5164530"/>
            <a:chOff x="0" y="0"/>
            <a:chExt cx="1178757" cy="136020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178757" cy="1360205"/>
            </a:xfrm>
            <a:custGeom>
              <a:avLst/>
              <a:gdLst/>
              <a:ahLst/>
              <a:cxnLst/>
              <a:rect r="r" b="b" t="t" l="l"/>
              <a:pathLst>
                <a:path h="1360205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5609"/>
                  </a:lnTo>
                  <a:cubicBezTo>
                    <a:pt x="1178757" y="1344716"/>
                    <a:pt x="1163268" y="1360205"/>
                    <a:pt x="1144161" y="1360205"/>
                  </a:cubicBezTo>
                  <a:lnTo>
                    <a:pt x="34596" y="1360205"/>
                  </a:lnTo>
                  <a:cubicBezTo>
                    <a:pt x="25421" y="1360205"/>
                    <a:pt x="16621" y="1356561"/>
                    <a:pt x="10133" y="1350072"/>
                  </a:cubicBezTo>
                  <a:cubicBezTo>
                    <a:pt x="3645" y="1343584"/>
                    <a:pt x="0" y="1334785"/>
                    <a:pt x="0" y="1325609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1178757" cy="13792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3690980" y="1329960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344F51"/>
                </a:solidFill>
                <a:latin typeface="Fraunces Bold"/>
                <a:ea typeface="Fraunces Bold"/>
                <a:cs typeface="Fraunces Bold"/>
                <a:sym typeface="Fraunces Bold"/>
              </a:rPr>
              <a:t>JUSTIFICACIÓN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405030" y="4186108"/>
            <a:ext cx="4194209" cy="36837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58"/>
              </a:lnSpc>
              <a:spcBef>
                <a:spcPct val="0"/>
              </a:spcBef>
            </a:pPr>
            <a:r>
              <a:rPr lang="en-US" sz="2143" spc="21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Sitio web en el que se pueda realizar la contratación, por parte de los usuarios, de servicios ofrecidos por distintas empresas destinados al cuidado de personas mayores y/o personas que necesitan ayuda.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208853" y="424928"/>
            <a:ext cx="19354610" cy="1639695"/>
            <a:chOff x="0" y="0"/>
            <a:chExt cx="1876002" cy="1589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58932"/>
            </a:xfrm>
            <a:custGeom>
              <a:avLst/>
              <a:gdLst/>
              <a:ahLst/>
              <a:cxnLst/>
              <a:rect r="r" b="b" t="t" l="l"/>
              <a:pathLst>
                <a:path h="158932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58932"/>
                  </a:lnTo>
                  <a:lnTo>
                    <a:pt x="1876002" y="158932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779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3407406"/>
            <a:ext cx="2667835" cy="810936"/>
            <a:chOff x="0" y="0"/>
            <a:chExt cx="620299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Clientes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498128" y="4911527"/>
            <a:ext cx="3887759" cy="3328894"/>
          </a:xfrm>
          <a:custGeom>
            <a:avLst/>
            <a:gdLst/>
            <a:ahLst/>
            <a:cxnLst/>
            <a:rect r="r" b="b" t="t" l="l"/>
            <a:pathLst>
              <a:path h="3328894" w="3887759">
                <a:moveTo>
                  <a:pt x="0" y="0"/>
                </a:moveTo>
                <a:lnTo>
                  <a:pt x="3887759" y="0"/>
                </a:lnTo>
                <a:lnTo>
                  <a:pt x="3887759" y="3328893"/>
                </a:lnTo>
                <a:lnTo>
                  <a:pt x="0" y="33288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658038" y="808479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ROLES Y PERMISOS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7358876" y="3407406"/>
            <a:ext cx="2385400" cy="810936"/>
            <a:chOff x="0" y="0"/>
            <a:chExt cx="554630" cy="1885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54630" cy="188551"/>
            </a:xfrm>
            <a:custGeom>
              <a:avLst/>
              <a:gdLst/>
              <a:ahLst/>
              <a:cxnLst/>
              <a:rect r="r" b="b" t="t" l="l"/>
              <a:pathLst>
                <a:path h="188551" w="554630">
                  <a:moveTo>
                    <a:pt x="25964" y="0"/>
                  </a:moveTo>
                  <a:lnTo>
                    <a:pt x="528666" y="0"/>
                  </a:lnTo>
                  <a:cubicBezTo>
                    <a:pt x="535552" y="0"/>
                    <a:pt x="542156" y="2736"/>
                    <a:pt x="547026" y="7605"/>
                  </a:cubicBezTo>
                  <a:cubicBezTo>
                    <a:pt x="551895" y="12474"/>
                    <a:pt x="554630" y="19078"/>
                    <a:pt x="554630" y="25964"/>
                  </a:cubicBezTo>
                  <a:lnTo>
                    <a:pt x="554630" y="162587"/>
                  </a:lnTo>
                  <a:cubicBezTo>
                    <a:pt x="554630" y="176926"/>
                    <a:pt x="543006" y="188551"/>
                    <a:pt x="528666" y="188551"/>
                  </a:cubicBezTo>
                  <a:lnTo>
                    <a:pt x="25964" y="188551"/>
                  </a:lnTo>
                  <a:cubicBezTo>
                    <a:pt x="11625" y="188551"/>
                    <a:pt x="0" y="176926"/>
                    <a:pt x="0" y="162587"/>
                  </a:cubicBezTo>
                  <a:lnTo>
                    <a:pt x="0" y="25964"/>
                  </a:lnTo>
                  <a:cubicBezTo>
                    <a:pt x="0" y="11625"/>
                    <a:pt x="11625" y="0"/>
                    <a:pt x="2596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55463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EMPRESA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406616" y="3407406"/>
            <a:ext cx="2667835" cy="810936"/>
            <a:chOff x="0" y="0"/>
            <a:chExt cx="620299" cy="18855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3811142" y="5146355"/>
            <a:ext cx="1858783" cy="2750241"/>
          </a:xfrm>
          <a:custGeom>
            <a:avLst/>
            <a:gdLst/>
            <a:ahLst/>
            <a:cxnLst/>
            <a:rect r="r" b="b" t="t" l="l"/>
            <a:pathLst>
              <a:path h="2750241" w="1858783">
                <a:moveTo>
                  <a:pt x="0" y="0"/>
                </a:moveTo>
                <a:lnTo>
                  <a:pt x="1858783" y="0"/>
                </a:lnTo>
                <a:lnTo>
                  <a:pt x="1858783" y="2750241"/>
                </a:lnTo>
                <a:lnTo>
                  <a:pt x="0" y="27502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7086581" y="5066851"/>
            <a:ext cx="2829745" cy="2829745"/>
          </a:xfrm>
          <a:custGeom>
            <a:avLst/>
            <a:gdLst/>
            <a:ahLst/>
            <a:cxnLst/>
            <a:rect r="r" b="b" t="t" l="l"/>
            <a:pathLst>
              <a:path h="2829745" w="2829745">
                <a:moveTo>
                  <a:pt x="0" y="0"/>
                </a:moveTo>
                <a:lnTo>
                  <a:pt x="2829745" y="0"/>
                </a:lnTo>
                <a:lnTo>
                  <a:pt x="2829745" y="2829745"/>
                </a:lnTo>
                <a:lnTo>
                  <a:pt x="0" y="28297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28700" y="645282"/>
          <a:ext cx="11291915" cy="8229600"/>
        </p:xfrm>
        <a:graphic>
          <a:graphicData uri="http://schemas.openxmlformats.org/presentationml/2006/ole">
            <p:oleObj imgW="13550900" imgH="10477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785357" y="538989"/>
            <a:ext cx="7162260" cy="1961344"/>
            <a:chOff x="0" y="0"/>
            <a:chExt cx="1012764" cy="2773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12764" cy="277340"/>
            </a:xfrm>
            <a:custGeom>
              <a:avLst/>
              <a:gdLst/>
              <a:ahLst/>
              <a:cxnLst/>
              <a:rect r="r" b="b" t="t" l="l"/>
              <a:pathLst>
                <a:path h="277340" w="1012764">
                  <a:moveTo>
                    <a:pt x="809564" y="0"/>
                  </a:moveTo>
                  <a:lnTo>
                    <a:pt x="0" y="0"/>
                  </a:lnTo>
                  <a:lnTo>
                    <a:pt x="203200" y="277340"/>
                  </a:lnTo>
                  <a:lnTo>
                    <a:pt x="1012764" y="277340"/>
                  </a:lnTo>
                  <a:lnTo>
                    <a:pt x="809564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809564" cy="2963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78202" y="4555916"/>
            <a:ext cx="2340497" cy="2592195"/>
          </a:xfrm>
          <a:custGeom>
            <a:avLst/>
            <a:gdLst/>
            <a:ahLst/>
            <a:cxnLst/>
            <a:rect r="r" b="b" t="t" l="l"/>
            <a:pathLst>
              <a:path h="2592195" w="2340497">
                <a:moveTo>
                  <a:pt x="0" y="0"/>
                </a:moveTo>
                <a:lnTo>
                  <a:pt x="2340498" y="0"/>
                </a:lnTo>
                <a:lnTo>
                  <a:pt x="2340498" y="2592195"/>
                </a:lnTo>
                <a:lnTo>
                  <a:pt x="0" y="25921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048451" y="6513095"/>
            <a:ext cx="1510002" cy="1557831"/>
          </a:xfrm>
          <a:custGeom>
            <a:avLst/>
            <a:gdLst/>
            <a:ahLst/>
            <a:cxnLst/>
            <a:rect r="r" b="b" t="t" l="l"/>
            <a:pathLst>
              <a:path h="1557831" w="1510002">
                <a:moveTo>
                  <a:pt x="0" y="0"/>
                </a:moveTo>
                <a:lnTo>
                  <a:pt x="1510002" y="0"/>
                </a:lnTo>
                <a:lnTo>
                  <a:pt x="1510002" y="1557831"/>
                </a:lnTo>
                <a:lnTo>
                  <a:pt x="0" y="15578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105746" y="639089"/>
            <a:ext cx="12153554" cy="9008822"/>
          </a:xfrm>
          <a:custGeom>
            <a:avLst/>
            <a:gdLst/>
            <a:ahLst/>
            <a:cxnLst/>
            <a:rect r="r" b="b" t="t" l="l"/>
            <a:pathLst>
              <a:path h="9008822" w="12153554">
                <a:moveTo>
                  <a:pt x="0" y="0"/>
                </a:moveTo>
                <a:lnTo>
                  <a:pt x="12153554" y="0"/>
                </a:lnTo>
                <a:lnTo>
                  <a:pt x="12153554" y="9008822"/>
                </a:lnTo>
                <a:lnTo>
                  <a:pt x="0" y="90088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2517" y="918729"/>
            <a:ext cx="2690935" cy="11447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98"/>
              </a:lnSpc>
              <a:spcBef>
                <a:spcPct val="0"/>
              </a:spcBef>
            </a:pPr>
            <a:r>
              <a:rPr lang="en-US" sz="3332" spc="26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BASE DE DATOS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13308" y="823034"/>
            <a:ext cx="19354610" cy="1461811"/>
            <a:chOff x="0" y="0"/>
            <a:chExt cx="1876002" cy="1416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41690"/>
            </a:xfrm>
            <a:custGeom>
              <a:avLst/>
              <a:gdLst/>
              <a:ahLst/>
              <a:cxnLst/>
              <a:rect r="r" b="b" t="t" l="l"/>
              <a:pathLst>
                <a:path h="141690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41690"/>
                  </a:lnTo>
                  <a:lnTo>
                    <a:pt x="1876002" y="141690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607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90765" y="3591042"/>
            <a:ext cx="5008014" cy="859690"/>
            <a:chOff x="0" y="0"/>
            <a:chExt cx="1164415" cy="1998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64415" cy="199887"/>
            </a:xfrm>
            <a:custGeom>
              <a:avLst/>
              <a:gdLst/>
              <a:ahLst/>
              <a:cxnLst/>
              <a:rect r="r" b="b" t="t" l="l"/>
              <a:pathLst>
                <a:path h="199887" w="1164415">
                  <a:moveTo>
                    <a:pt x="12367" y="0"/>
                  </a:moveTo>
                  <a:lnTo>
                    <a:pt x="1152048" y="0"/>
                  </a:lnTo>
                  <a:cubicBezTo>
                    <a:pt x="1158878" y="0"/>
                    <a:pt x="1164415" y="5537"/>
                    <a:pt x="1164415" y="12367"/>
                  </a:cubicBezTo>
                  <a:lnTo>
                    <a:pt x="1164415" y="187520"/>
                  </a:lnTo>
                  <a:cubicBezTo>
                    <a:pt x="1164415" y="190800"/>
                    <a:pt x="1163112" y="193945"/>
                    <a:pt x="1160793" y="196265"/>
                  </a:cubicBezTo>
                  <a:cubicBezTo>
                    <a:pt x="1158474" y="198584"/>
                    <a:pt x="1155328" y="199887"/>
                    <a:pt x="1152048" y="199887"/>
                  </a:cubicBezTo>
                  <a:lnTo>
                    <a:pt x="12367" y="199887"/>
                  </a:lnTo>
                  <a:cubicBezTo>
                    <a:pt x="5537" y="199887"/>
                    <a:pt x="0" y="194350"/>
                    <a:pt x="0" y="187520"/>
                  </a:cubicBezTo>
                  <a:lnTo>
                    <a:pt x="0" y="12367"/>
                  </a:lnTo>
                  <a:cubicBezTo>
                    <a:pt x="0" y="5537"/>
                    <a:pt x="5537" y="0"/>
                    <a:pt x="12367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164415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APLICACIÓN CLIENTE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241754" y="3466122"/>
            <a:ext cx="5964636" cy="859690"/>
            <a:chOff x="0" y="0"/>
            <a:chExt cx="1386840" cy="1998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6840" cy="199887"/>
            </a:xfrm>
            <a:custGeom>
              <a:avLst/>
              <a:gdLst/>
              <a:ahLst/>
              <a:cxnLst/>
              <a:rect r="r" b="b" t="t" l="l"/>
              <a:pathLst>
                <a:path h="199887" w="1386840">
                  <a:moveTo>
                    <a:pt x="10384" y="0"/>
                  </a:moveTo>
                  <a:lnTo>
                    <a:pt x="1376456" y="0"/>
                  </a:lnTo>
                  <a:cubicBezTo>
                    <a:pt x="1379210" y="0"/>
                    <a:pt x="1381851" y="1094"/>
                    <a:pt x="1383799" y="3041"/>
                  </a:cubicBezTo>
                  <a:cubicBezTo>
                    <a:pt x="1385746" y="4989"/>
                    <a:pt x="1386840" y="7630"/>
                    <a:pt x="1386840" y="10384"/>
                  </a:cubicBezTo>
                  <a:lnTo>
                    <a:pt x="1386840" y="189503"/>
                  </a:lnTo>
                  <a:cubicBezTo>
                    <a:pt x="1386840" y="192257"/>
                    <a:pt x="1385746" y="194898"/>
                    <a:pt x="1383799" y="196846"/>
                  </a:cubicBezTo>
                  <a:cubicBezTo>
                    <a:pt x="1381851" y="198793"/>
                    <a:pt x="1379210" y="199887"/>
                    <a:pt x="1376456" y="199887"/>
                  </a:cubicBezTo>
                  <a:lnTo>
                    <a:pt x="10384" y="199887"/>
                  </a:lnTo>
                  <a:cubicBezTo>
                    <a:pt x="7630" y="199887"/>
                    <a:pt x="4989" y="198793"/>
                    <a:pt x="3041" y="196846"/>
                  </a:cubicBezTo>
                  <a:cubicBezTo>
                    <a:pt x="1094" y="194898"/>
                    <a:pt x="0" y="192257"/>
                    <a:pt x="0" y="189503"/>
                  </a:cubicBezTo>
                  <a:lnTo>
                    <a:pt x="0" y="10384"/>
                  </a:lnTo>
                  <a:cubicBezTo>
                    <a:pt x="0" y="7630"/>
                    <a:pt x="1094" y="4989"/>
                    <a:pt x="3041" y="3041"/>
                  </a:cubicBezTo>
                  <a:cubicBezTo>
                    <a:pt x="4989" y="1094"/>
                    <a:pt x="7630" y="0"/>
                    <a:pt x="1038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38684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SERVICIOS EN LA NUBE (BaaS)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147110" y="3466122"/>
            <a:ext cx="4778411" cy="859690"/>
            <a:chOff x="0" y="0"/>
            <a:chExt cx="1111030" cy="1998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1030" cy="199887"/>
            </a:xfrm>
            <a:custGeom>
              <a:avLst/>
              <a:gdLst/>
              <a:ahLst/>
              <a:cxnLst/>
              <a:rect r="r" b="b" t="t" l="l"/>
              <a:pathLst>
                <a:path h="199887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186925"/>
                  </a:lnTo>
                  <a:cubicBezTo>
                    <a:pt x="1111030" y="190363"/>
                    <a:pt x="1109664" y="193660"/>
                    <a:pt x="1107234" y="196091"/>
                  </a:cubicBezTo>
                  <a:cubicBezTo>
                    <a:pt x="1104803" y="198521"/>
                    <a:pt x="1101506" y="199887"/>
                    <a:pt x="1098069" y="199887"/>
                  </a:cubicBezTo>
                  <a:lnTo>
                    <a:pt x="12961" y="199887"/>
                  </a:lnTo>
                  <a:cubicBezTo>
                    <a:pt x="9524" y="199887"/>
                    <a:pt x="6227" y="198521"/>
                    <a:pt x="3796" y="196091"/>
                  </a:cubicBezTo>
                  <a:cubicBezTo>
                    <a:pt x="1366" y="193660"/>
                    <a:pt x="0" y="190363"/>
                    <a:pt x="0" y="186925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11103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CI/CD &amp; PRODUCCIÓN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90765" y="5143500"/>
            <a:ext cx="5052366" cy="4114800"/>
            <a:chOff x="0" y="0"/>
            <a:chExt cx="1174727" cy="95673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74728" cy="956734"/>
            </a:xfrm>
            <a:custGeom>
              <a:avLst/>
              <a:gdLst/>
              <a:ahLst/>
              <a:cxnLst/>
              <a:rect r="r" b="b" t="t" l="l"/>
              <a:pathLst>
                <a:path h="956734" w="1174728">
                  <a:moveTo>
                    <a:pt x="12259" y="0"/>
                  </a:moveTo>
                  <a:lnTo>
                    <a:pt x="1162469" y="0"/>
                  </a:lnTo>
                  <a:cubicBezTo>
                    <a:pt x="1165720" y="0"/>
                    <a:pt x="1168838" y="1292"/>
                    <a:pt x="1171137" y="3590"/>
                  </a:cubicBezTo>
                  <a:cubicBezTo>
                    <a:pt x="1173436" y="5889"/>
                    <a:pt x="1174728" y="9007"/>
                    <a:pt x="1174728" y="12259"/>
                  </a:cubicBezTo>
                  <a:lnTo>
                    <a:pt x="1174728" y="944475"/>
                  </a:lnTo>
                  <a:cubicBezTo>
                    <a:pt x="1174728" y="951245"/>
                    <a:pt x="1169239" y="956734"/>
                    <a:pt x="1162469" y="956734"/>
                  </a:cubicBezTo>
                  <a:lnTo>
                    <a:pt x="12259" y="956734"/>
                  </a:lnTo>
                  <a:cubicBezTo>
                    <a:pt x="9007" y="956734"/>
                    <a:pt x="5889" y="955442"/>
                    <a:pt x="3590" y="953143"/>
                  </a:cubicBezTo>
                  <a:cubicBezTo>
                    <a:pt x="1292" y="950844"/>
                    <a:pt x="0" y="947726"/>
                    <a:pt x="0" y="944475"/>
                  </a:cubicBezTo>
                  <a:lnTo>
                    <a:pt x="0" y="12259"/>
                  </a:lnTo>
                  <a:cubicBezTo>
                    <a:pt x="0" y="9007"/>
                    <a:pt x="1292" y="5889"/>
                    <a:pt x="3590" y="3590"/>
                  </a:cubicBezTo>
                  <a:cubicBezTo>
                    <a:pt x="5889" y="1292"/>
                    <a:pt x="9007" y="0"/>
                    <a:pt x="12259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174727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460334" y="5303959"/>
            <a:ext cx="1896941" cy="1896941"/>
          </a:xfrm>
          <a:custGeom>
            <a:avLst/>
            <a:gdLst/>
            <a:ahLst/>
            <a:cxnLst/>
            <a:rect r="r" b="b" t="t" l="l"/>
            <a:pathLst>
              <a:path h="1896941" w="1896941">
                <a:moveTo>
                  <a:pt x="0" y="0"/>
                </a:moveTo>
                <a:lnTo>
                  <a:pt x="1896940" y="0"/>
                </a:lnTo>
                <a:lnTo>
                  <a:pt x="1896940" y="1896941"/>
                </a:lnTo>
                <a:lnTo>
                  <a:pt x="0" y="189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464693" y="5143500"/>
            <a:ext cx="5741697" cy="4114800"/>
            <a:chOff x="0" y="0"/>
            <a:chExt cx="1335004" cy="95673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35004" cy="956734"/>
            </a:xfrm>
            <a:custGeom>
              <a:avLst/>
              <a:gdLst/>
              <a:ahLst/>
              <a:cxnLst/>
              <a:rect r="r" b="b" t="t" l="l"/>
              <a:pathLst>
                <a:path h="956734" w="1335004">
                  <a:moveTo>
                    <a:pt x="10787" y="0"/>
                  </a:moveTo>
                  <a:lnTo>
                    <a:pt x="1324217" y="0"/>
                  </a:lnTo>
                  <a:cubicBezTo>
                    <a:pt x="1327078" y="0"/>
                    <a:pt x="1329822" y="1136"/>
                    <a:pt x="1331845" y="3159"/>
                  </a:cubicBezTo>
                  <a:cubicBezTo>
                    <a:pt x="1333868" y="5182"/>
                    <a:pt x="1335004" y="7926"/>
                    <a:pt x="1335004" y="10787"/>
                  </a:cubicBezTo>
                  <a:lnTo>
                    <a:pt x="1335004" y="945947"/>
                  </a:lnTo>
                  <a:cubicBezTo>
                    <a:pt x="1335004" y="951904"/>
                    <a:pt x="1330175" y="956734"/>
                    <a:pt x="1324217" y="956734"/>
                  </a:cubicBezTo>
                  <a:lnTo>
                    <a:pt x="10787" y="956734"/>
                  </a:lnTo>
                  <a:cubicBezTo>
                    <a:pt x="7926" y="956734"/>
                    <a:pt x="5182" y="955597"/>
                    <a:pt x="3159" y="953574"/>
                  </a:cubicBezTo>
                  <a:cubicBezTo>
                    <a:pt x="1136" y="951551"/>
                    <a:pt x="0" y="948808"/>
                    <a:pt x="0" y="945947"/>
                  </a:cubicBezTo>
                  <a:lnTo>
                    <a:pt x="0" y="10787"/>
                  </a:lnTo>
                  <a:cubicBezTo>
                    <a:pt x="0" y="7926"/>
                    <a:pt x="1136" y="5182"/>
                    <a:pt x="3159" y="3159"/>
                  </a:cubicBezTo>
                  <a:cubicBezTo>
                    <a:pt x="5182" y="1136"/>
                    <a:pt x="7926" y="0"/>
                    <a:pt x="10787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1335004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7152242" y="6132173"/>
            <a:ext cx="2071830" cy="2137454"/>
          </a:xfrm>
          <a:custGeom>
            <a:avLst/>
            <a:gdLst/>
            <a:ahLst/>
            <a:cxnLst/>
            <a:rect r="r" b="b" t="t" l="l"/>
            <a:pathLst>
              <a:path h="2137454" w="2071830">
                <a:moveTo>
                  <a:pt x="0" y="0"/>
                </a:moveTo>
                <a:lnTo>
                  <a:pt x="2071830" y="0"/>
                </a:lnTo>
                <a:lnTo>
                  <a:pt x="2071830" y="2137454"/>
                </a:lnTo>
                <a:lnTo>
                  <a:pt x="0" y="21374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538397" y="5969473"/>
            <a:ext cx="2300154" cy="2300154"/>
          </a:xfrm>
          <a:custGeom>
            <a:avLst/>
            <a:gdLst/>
            <a:ahLst/>
            <a:cxnLst/>
            <a:rect r="r" b="b" t="t" l="l"/>
            <a:pathLst>
              <a:path h="2300154" w="2300154">
                <a:moveTo>
                  <a:pt x="0" y="0"/>
                </a:moveTo>
                <a:lnTo>
                  <a:pt x="2300154" y="0"/>
                </a:lnTo>
                <a:lnTo>
                  <a:pt x="2300154" y="2300154"/>
                </a:lnTo>
                <a:lnTo>
                  <a:pt x="0" y="2300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3147110" y="5062150"/>
            <a:ext cx="4778411" cy="4114800"/>
            <a:chOff x="0" y="0"/>
            <a:chExt cx="1111030" cy="95673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1030" cy="956734"/>
            </a:xfrm>
            <a:custGeom>
              <a:avLst/>
              <a:gdLst/>
              <a:ahLst/>
              <a:cxnLst/>
              <a:rect r="r" b="b" t="t" l="l"/>
              <a:pathLst>
                <a:path h="956734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943772"/>
                  </a:lnTo>
                  <a:cubicBezTo>
                    <a:pt x="1111030" y="947210"/>
                    <a:pt x="1109664" y="950507"/>
                    <a:pt x="1107234" y="952937"/>
                  </a:cubicBezTo>
                  <a:cubicBezTo>
                    <a:pt x="1104803" y="955368"/>
                    <a:pt x="1101506" y="956734"/>
                    <a:pt x="1098069" y="956734"/>
                  </a:cubicBezTo>
                  <a:lnTo>
                    <a:pt x="12961" y="956734"/>
                  </a:lnTo>
                  <a:cubicBezTo>
                    <a:pt x="9524" y="956734"/>
                    <a:pt x="6227" y="955368"/>
                    <a:pt x="3796" y="952937"/>
                  </a:cubicBezTo>
                  <a:cubicBezTo>
                    <a:pt x="1366" y="950507"/>
                    <a:pt x="0" y="947210"/>
                    <a:pt x="0" y="943772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76200"/>
              <a:ext cx="1111030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3292160" y="5317149"/>
            <a:ext cx="4388901" cy="1623893"/>
          </a:xfrm>
          <a:custGeom>
            <a:avLst/>
            <a:gdLst/>
            <a:ahLst/>
            <a:cxnLst/>
            <a:rect r="r" b="b" t="t" l="l"/>
            <a:pathLst>
              <a:path h="1623893" w="4388901">
                <a:moveTo>
                  <a:pt x="0" y="0"/>
                </a:moveTo>
                <a:lnTo>
                  <a:pt x="4388901" y="0"/>
                </a:lnTo>
                <a:lnTo>
                  <a:pt x="4388901" y="1623893"/>
                </a:lnTo>
                <a:lnTo>
                  <a:pt x="0" y="162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3568872" y="7220355"/>
            <a:ext cx="4112190" cy="1956595"/>
          </a:xfrm>
          <a:custGeom>
            <a:avLst/>
            <a:gdLst/>
            <a:ahLst/>
            <a:cxnLst/>
            <a:rect r="r" b="b" t="t" l="l"/>
            <a:pathLst>
              <a:path h="1956595" w="4112190">
                <a:moveTo>
                  <a:pt x="0" y="0"/>
                </a:moveTo>
                <a:lnTo>
                  <a:pt x="4112189" y="0"/>
                </a:lnTo>
                <a:lnTo>
                  <a:pt x="4112189" y="1956595"/>
                </a:lnTo>
                <a:lnTo>
                  <a:pt x="0" y="19565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8339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21964" y="7609486"/>
            <a:ext cx="2156896" cy="1320282"/>
          </a:xfrm>
          <a:custGeom>
            <a:avLst/>
            <a:gdLst/>
            <a:ahLst/>
            <a:cxnLst/>
            <a:rect r="r" b="b" t="t" l="l"/>
            <a:pathLst>
              <a:path h="1320282" w="2156896">
                <a:moveTo>
                  <a:pt x="0" y="0"/>
                </a:moveTo>
                <a:lnTo>
                  <a:pt x="2156896" y="0"/>
                </a:lnTo>
                <a:lnTo>
                  <a:pt x="2156896" y="1320282"/>
                </a:lnTo>
                <a:lnTo>
                  <a:pt x="0" y="132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3196508" y="5756930"/>
            <a:ext cx="1660848" cy="1660848"/>
          </a:xfrm>
          <a:custGeom>
            <a:avLst/>
            <a:gdLst/>
            <a:ahLst/>
            <a:cxnLst/>
            <a:rect r="r" b="b" t="t" l="l"/>
            <a:pathLst>
              <a:path h="1660848" w="1660848">
                <a:moveTo>
                  <a:pt x="0" y="0"/>
                </a:moveTo>
                <a:lnTo>
                  <a:pt x="1660848" y="0"/>
                </a:lnTo>
                <a:lnTo>
                  <a:pt x="1660848" y="1660847"/>
                </a:lnTo>
                <a:lnTo>
                  <a:pt x="0" y="16608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5469189" y="6661244"/>
            <a:ext cx="869445" cy="539656"/>
            <a:chOff x="0" y="0"/>
            <a:chExt cx="736600" cy="457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36600" cy="457200"/>
            </a:xfrm>
            <a:custGeom>
              <a:avLst/>
              <a:gdLst/>
              <a:ahLst/>
              <a:cxnLst/>
              <a:rect r="r" b="b" t="t" l="l"/>
              <a:pathLst>
                <a:path h="457200" w="736600">
                  <a:moveTo>
                    <a:pt x="736600" y="228606"/>
                  </a:moveTo>
                  <a:lnTo>
                    <a:pt x="476634" y="457200"/>
                  </a:lnTo>
                  <a:lnTo>
                    <a:pt x="492392" y="332453"/>
                  </a:lnTo>
                  <a:lnTo>
                    <a:pt x="244208" y="332453"/>
                  </a:lnTo>
                  <a:lnTo>
                    <a:pt x="259966" y="457200"/>
                  </a:lnTo>
                  <a:lnTo>
                    <a:pt x="0" y="228606"/>
                  </a:lnTo>
                  <a:lnTo>
                    <a:pt x="259966" y="0"/>
                  </a:lnTo>
                  <a:lnTo>
                    <a:pt x="244196" y="124785"/>
                  </a:lnTo>
                  <a:lnTo>
                    <a:pt x="492404" y="124785"/>
                  </a:lnTo>
                  <a:lnTo>
                    <a:pt x="476634" y="0"/>
                  </a:lnTo>
                  <a:lnTo>
                    <a:pt x="736600" y="228606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114300" y="107950"/>
              <a:ext cx="50800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-10800000">
            <a:off x="12314970" y="6661244"/>
            <a:ext cx="723560" cy="595873"/>
            <a:chOff x="0" y="0"/>
            <a:chExt cx="647700" cy="533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47700" cy="533400"/>
            </a:xfrm>
            <a:custGeom>
              <a:avLst/>
              <a:gdLst/>
              <a:ahLst/>
              <a:cxnLst/>
              <a:rect r="r" b="b" t="t" l="l"/>
              <a:pathLst>
                <a:path h="533400" w="647700">
                  <a:moveTo>
                    <a:pt x="239386" y="166418"/>
                  </a:moveTo>
                  <a:lnTo>
                    <a:pt x="647700" y="166418"/>
                  </a:lnTo>
                  <a:lnTo>
                    <a:pt x="647700" y="366942"/>
                  </a:lnTo>
                  <a:lnTo>
                    <a:pt x="239373" y="366942"/>
                  </a:lnTo>
                  <a:lnTo>
                    <a:pt x="302255" y="533400"/>
                  </a:lnTo>
                  <a:lnTo>
                    <a:pt x="0" y="266700"/>
                  </a:lnTo>
                  <a:lnTo>
                    <a:pt x="302255" y="0"/>
                  </a:lnTo>
                  <a:lnTo>
                    <a:pt x="239386" y="166418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20650" y="146050"/>
              <a:ext cx="52705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87589" y="1117644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TECNOLOGÍAS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227072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Continua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459664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REST API &amp; Tiempo Real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869158" y="54278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>
            <a:hlinkClick r:id="rId4" tooltip="https://www.conectacuidados.eu"/>
          </p:cNvPr>
          <p:cNvSpPr/>
          <p:nvPr/>
        </p:nvSpPr>
        <p:spPr>
          <a:xfrm flipH="false" flipV="false" rot="0">
            <a:off x="5570665" y="4603389"/>
            <a:ext cx="5936428" cy="3730691"/>
          </a:xfrm>
          <a:custGeom>
            <a:avLst/>
            <a:gdLst/>
            <a:ahLst/>
            <a:cxnLst/>
            <a:rect r="r" b="b" t="t" l="l"/>
            <a:pathLst>
              <a:path h="3730691" w="5936428">
                <a:moveTo>
                  <a:pt x="0" y="0"/>
                </a:moveTo>
                <a:lnTo>
                  <a:pt x="5936427" y="0"/>
                </a:lnTo>
                <a:lnTo>
                  <a:pt x="5936427" y="3730691"/>
                </a:lnTo>
                <a:lnTo>
                  <a:pt x="0" y="37306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782564" y="3038086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12413" y="0"/>
                  </a:moveTo>
                  <a:lnTo>
                    <a:pt x="4094058" y="0"/>
                  </a:lnTo>
                  <a:cubicBezTo>
                    <a:pt x="4100914" y="0"/>
                    <a:pt x="4106471" y="5558"/>
                    <a:pt x="4106471" y="12413"/>
                  </a:cubicBezTo>
                  <a:lnTo>
                    <a:pt x="4106471" y="2155053"/>
                  </a:lnTo>
                  <a:cubicBezTo>
                    <a:pt x="4106471" y="2158346"/>
                    <a:pt x="4105164" y="2161503"/>
                    <a:pt x="4102836" y="2163831"/>
                  </a:cubicBezTo>
                  <a:cubicBezTo>
                    <a:pt x="4100507" y="2166159"/>
                    <a:pt x="4097350" y="2167467"/>
                    <a:pt x="4094058" y="2167467"/>
                  </a:cubicBezTo>
                  <a:lnTo>
                    <a:pt x="12413" y="2167467"/>
                  </a:lnTo>
                  <a:cubicBezTo>
                    <a:pt x="9121" y="2167467"/>
                    <a:pt x="5964" y="2166159"/>
                    <a:pt x="3636" y="2163831"/>
                  </a:cubicBezTo>
                  <a:cubicBezTo>
                    <a:pt x="1308" y="2161503"/>
                    <a:pt x="0" y="2158346"/>
                    <a:pt x="0" y="2155053"/>
                  </a:cubicBezTo>
                  <a:lnTo>
                    <a:pt x="0" y="12413"/>
                  </a:lnTo>
                  <a:cubicBezTo>
                    <a:pt x="0" y="9121"/>
                    <a:pt x="1308" y="5964"/>
                    <a:pt x="3636" y="3636"/>
                  </a:cubicBezTo>
                  <a:cubicBezTo>
                    <a:pt x="5964" y="1308"/>
                    <a:pt x="9121" y="0"/>
                    <a:pt x="12413" y="0"/>
                  </a:cubicBezTo>
                  <a:close/>
                </a:path>
              </a:pathLst>
            </a:custGeom>
            <a:solidFill>
              <a:srgbClr val="FFFFFF">
                <a:alpha val="8666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830917" y="1754882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51786E"/>
                </a:solidFill>
                <a:latin typeface="Fraunces Bold"/>
                <a:ea typeface="Fraunces Bold"/>
                <a:cs typeface="Fraunces Bold"/>
                <a:sym typeface="Fraunces Bold"/>
              </a:rPr>
              <a:t>FUTURAS MEJORAS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976208" y="3153392"/>
            <a:ext cx="13558833" cy="6001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de Pasarela de Pago y Modelo de Negocio. Como evolución natural, se propone la integración de una pasarela de pagos segura (como Stripe o PayPal).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Sistema de Valoraciones.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Entrevistas por Videollamada (WebRTC). Implementar un módulo de videollamadas integrado directamente en el chat de la aplicación.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Expansión del Módulo de Inteligencia Artificial. Matchmaking Inteligente: el cliente describe el problema en lenguaje natural y la IA filtra la base de datos y le propone los 3 perfiles profesionales más adecuados.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Dar de alta a los usuarios de nuevo por los adnimistradores.</a:t>
            </a:r>
          </a:p>
          <a:p>
            <a:pPr algn="l">
              <a:lnSpc>
                <a:spcPts val="2828"/>
              </a:lnSpc>
            </a:pPr>
          </a:p>
          <a:p>
            <a:pPr algn="l">
              <a:lnSpc>
                <a:spcPts val="2828"/>
              </a:lnSpc>
            </a:pPr>
          </a:p>
          <a:p>
            <a:pPr algn="l">
              <a:lnSpc>
                <a:spcPts val="2828"/>
              </a:lnSpc>
            </a:pP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912991" y="7131081"/>
            <a:ext cx="920403" cy="920403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118589" y="68967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0223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DAG2b7D6YUg</dc:identifier>
  <dcterms:modified xsi:type="dcterms:W3CDTF">2011-08-01T06:04:30Z</dcterms:modified>
  <cp:revision>1</cp:revision>
  <dc:title>cuidaDos</dc:title>
</cp:coreProperties>
</file>