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Poppins" charset="1" panose="00000500000000000000"/>
      <p:regular r:id="rId18"/>
    </p:embeddedFont>
    <p:embeddedFont>
      <p:font typeface="Fraunces Bold" charset="1" panose="00000000000000000000"/>
      <p:regular r:id="rId19"/>
    </p:embeddedFont>
    <p:embeddedFont>
      <p:font typeface="Open Sans Bold" charset="1" panose="020B0806030504020204"/>
      <p:regular r:id="rId20"/>
    </p:embeddedFont>
    <p:embeddedFont>
      <p:font typeface="Poppins Bold" charset="1" panose="00000800000000000000"/>
      <p:regular r:id="rId21"/>
    </p:embeddedFont>
    <p:embeddedFont>
      <p:font typeface="Fraunce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4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2.png" Type="http://schemas.openxmlformats.org/officeDocument/2006/relationships/image"/><Relationship Id="rId4" Target="https://www.conectacuidados.eu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6496" y="2463569"/>
            <a:ext cx="11196945" cy="6310665"/>
            <a:chOff x="0" y="0"/>
            <a:chExt cx="2948990" cy="1662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990" cy="1662068"/>
            </a:xfrm>
            <a:custGeom>
              <a:avLst/>
              <a:gdLst/>
              <a:ahLst/>
              <a:cxnLst/>
              <a:rect r="r" b="b" t="t" l="l"/>
              <a:pathLst>
                <a:path h="1662068" w="2948990">
                  <a:moveTo>
                    <a:pt x="0" y="0"/>
                  </a:moveTo>
                  <a:lnTo>
                    <a:pt x="2948990" y="0"/>
                  </a:lnTo>
                  <a:lnTo>
                    <a:pt x="2948990" y="1662068"/>
                  </a:lnTo>
                  <a:lnTo>
                    <a:pt x="0" y="16620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48990" cy="168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84793" y="8170984"/>
            <a:ext cx="5949014" cy="2390422"/>
          </a:xfrm>
          <a:custGeom>
            <a:avLst/>
            <a:gdLst/>
            <a:ahLst/>
            <a:cxnLst/>
            <a:rect r="r" b="b" t="t" l="l"/>
            <a:pathLst>
              <a:path h="2390422" w="5949014">
                <a:moveTo>
                  <a:pt x="0" y="0"/>
                </a:moveTo>
                <a:lnTo>
                  <a:pt x="5949014" y="0"/>
                </a:lnTo>
                <a:lnTo>
                  <a:pt x="5949014" y="2390422"/>
                </a:lnTo>
                <a:lnTo>
                  <a:pt x="0" y="239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0832" y="2807187"/>
            <a:ext cx="3618799" cy="4672626"/>
          </a:xfrm>
          <a:custGeom>
            <a:avLst/>
            <a:gdLst/>
            <a:ahLst/>
            <a:cxnLst/>
            <a:rect r="r" b="b" t="t" l="l"/>
            <a:pathLst>
              <a:path h="4672626" w="3618799">
                <a:moveTo>
                  <a:pt x="0" y="0"/>
                </a:moveTo>
                <a:lnTo>
                  <a:pt x="3618799" y="0"/>
                </a:lnTo>
                <a:lnTo>
                  <a:pt x="3618799" y="4672626"/>
                </a:lnTo>
                <a:lnTo>
                  <a:pt x="0" y="4672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4961" y="2463569"/>
            <a:ext cx="2368480" cy="1152179"/>
          </a:xfrm>
          <a:custGeom>
            <a:avLst/>
            <a:gdLst/>
            <a:ahLst/>
            <a:cxnLst/>
            <a:rect r="r" b="b" t="t" l="l"/>
            <a:pathLst>
              <a:path h="1152179" w="2368480">
                <a:moveTo>
                  <a:pt x="0" y="0"/>
                </a:moveTo>
                <a:lnTo>
                  <a:pt x="2368480" y="0"/>
                </a:lnTo>
                <a:lnTo>
                  <a:pt x="2368480" y="1152179"/>
                </a:lnTo>
                <a:lnTo>
                  <a:pt x="0" y="115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884" r="0" b="-2651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12991" y="7131081"/>
            <a:ext cx="920403" cy="920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5178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118589" y="6896711"/>
            <a:ext cx="1699666" cy="1699666"/>
          </a:xfrm>
          <a:custGeom>
            <a:avLst/>
            <a:gdLst/>
            <a:ahLst/>
            <a:cxnLst/>
            <a:rect r="r" b="b" t="t" l="l"/>
            <a:pathLst>
              <a:path h="1699666" w="1699666">
                <a:moveTo>
                  <a:pt x="0" y="0"/>
                </a:moveTo>
                <a:lnTo>
                  <a:pt x="1699666" y="0"/>
                </a:lnTo>
                <a:lnTo>
                  <a:pt x="1699666" y="1699666"/>
                </a:lnTo>
                <a:lnTo>
                  <a:pt x="0" y="1699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99631" y="4466377"/>
            <a:ext cx="593642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 spc="-151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</a:t>
            </a:r>
            <a:r>
              <a:rPr lang="en-US" b="true" sz="7599" spc="-151">
                <a:solidFill>
                  <a:srgbClr val="93D1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0223" y="5662612"/>
            <a:ext cx="52418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Evelia Gil Paredes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6496" y="2463569"/>
            <a:ext cx="11196945" cy="6310665"/>
            <a:chOff x="0" y="0"/>
            <a:chExt cx="2948990" cy="1662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990" cy="1662068"/>
            </a:xfrm>
            <a:custGeom>
              <a:avLst/>
              <a:gdLst/>
              <a:ahLst/>
              <a:cxnLst/>
              <a:rect r="r" b="b" t="t" l="l"/>
              <a:pathLst>
                <a:path h="1662068" w="2948990">
                  <a:moveTo>
                    <a:pt x="0" y="0"/>
                  </a:moveTo>
                  <a:lnTo>
                    <a:pt x="2948990" y="0"/>
                  </a:lnTo>
                  <a:lnTo>
                    <a:pt x="2948990" y="1662068"/>
                  </a:lnTo>
                  <a:lnTo>
                    <a:pt x="0" y="16620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48990" cy="168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38216" y="4665293"/>
            <a:ext cx="2773099" cy="3580649"/>
          </a:xfrm>
          <a:custGeom>
            <a:avLst/>
            <a:gdLst/>
            <a:ahLst/>
            <a:cxnLst/>
            <a:rect r="r" b="b" t="t" l="l"/>
            <a:pathLst>
              <a:path h="3580649" w="2773099">
                <a:moveTo>
                  <a:pt x="0" y="0"/>
                </a:moveTo>
                <a:lnTo>
                  <a:pt x="2773099" y="0"/>
                </a:lnTo>
                <a:lnTo>
                  <a:pt x="2773099" y="3580649"/>
                </a:lnTo>
                <a:lnTo>
                  <a:pt x="0" y="3580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5626" y="2847670"/>
            <a:ext cx="427233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 spc="-151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ÍNDICE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72387" y="4210793"/>
            <a:ext cx="6060501" cy="416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Justificación</a:t>
            </a:r>
          </a:p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Roles y permisos</a:t>
            </a:r>
          </a:p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 de datos</a:t>
            </a:r>
          </a:p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Stack tecnológico</a:t>
            </a:r>
          </a:p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</a:t>
            </a:r>
          </a:p>
          <a:p>
            <a:pPr algn="just" marL="911114" indent="-455557" lvl="1">
              <a:lnSpc>
                <a:spcPts val="5486"/>
              </a:lnSpc>
              <a:buFont typeface="Arial"/>
              <a:buChar char="•"/>
            </a:pPr>
            <a:r>
              <a:rPr lang="en-US" b="true" sz="4220">
                <a:solidFill>
                  <a:srgbClr val="517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Futuras mejoras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7312" y="1028700"/>
            <a:ext cx="15591759" cy="8229600"/>
            <a:chOff x="0" y="0"/>
            <a:chExt cx="4106471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6471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06471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64337" y="3655008"/>
            <a:ext cx="4475594" cy="5100938"/>
            <a:chOff x="0" y="0"/>
            <a:chExt cx="1178757" cy="1343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757" cy="1343457"/>
            </a:xfrm>
            <a:custGeom>
              <a:avLst/>
              <a:gdLst/>
              <a:ahLst/>
              <a:cxnLst/>
              <a:rect r="r" b="b" t="t" l="l"/>
              <a:pathLst>
                <a:path h="1343457" w="1178757">
                  <a:moveTo>
                    <a:pt x="34596" y="0"/>
                  </a:moveTo>
                  <a:lnTo>
                    <a:pt x="1144161" y="0"/>
                  </a:lnTo>
                  <a:cubicBezTo>
                    <a:pt x="1153337" y="0"/>
                    <a:pt x="1162136" y="3645"/>
                    <a:pt x="1168624" y="10133"/>
                  </a:cubicBezTo>
                  <a:cubicBezTo>
                    <a:pt x="1175112" y="16621"/>
                    <a:pt x="1178757" y="25421"/>
                    <a:pt x="1178757" y="34596"/>
                  </a:cubicBezTo>
                  <a:lnTo>
                    <a:pt x="1178757" y="1308861"/>
                  </a:lnTo>
                  <a:cubicBezTo>
                    <a:pt x="1178757" y="1327968"/>
                    <a:pt x="1163268" y="1343457"/>
                    <a:pt x="1144161" y="1343457"/>
                  </a:cubicBezTo>
                  <a:lnTo>
                    <a:pt x="34596" y="1343457"/>
                  </a:lnTo>
                  <a:cubicBezTo>
                    <a:pt x="25421" y="1343457"/>
                    <a:pt x="16621" y="1339812"/>
                    <a:pt x="10133" y="1333324"/>
                  </a:cubicBezTo>
                  <a:cubicBezTo>
                    <a:pt x="3645" y="1326836"/>
                    <a:pt x="0" y="1318036"/>
                    <a:pt x="0" y="1308861"/>
                  </a:cubicBezTo>
                  <a:lnTo>
                    <a:pt x="0" y="34596"/>
                  </a:lnTo>
                  <a:cubicBezTo>
                    <a:pt x="0" y="25421"/>
                    <a:pt x="3645" y="16621"/>
                    <a:pt x="10133" y="10133"/>
                  </a:cubicBezTo>
                  <a:cubicBezTo>
                    <a:pt x="16621" y="3645"/>
                    <a:pt x="25421" y="0"/>
                    <a:pt x="34596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78757" cy="1362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59084" y="2802626"/>
            <a:ext cx="3086100" cy="516103"/>
            <a:chOff x="0" y="0"/>
            <a:chExt cx="812800" cy="135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344F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QUÉ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00950" y="2803064"/>
            <a:ext cx="3086100" cy="516103"/>
            <a:chOff x="0" y="0"/>
            <a:chExt cx="812800" cy="135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344F5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PORQUÉ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79096" y="2828329"/>
            <a:ext cx="3086100" cy="516103"/>
            <a:chOff x="0" y="0"/>
            <a:chExt cx="812800" cy="135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344F5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 QUÉ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35867" y="4059812"/>
            <a:ext cx="3376170" cy="457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sz="2049" spc="200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Facilitar la contratación de servicios a los usuarios que los necesiten. </a:t>
            </a: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sz="2049" spc="200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Solucionar los posibles conflictos facilitando la vida de los usuarios.</a:t>
            </a: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sz="2049" spc="200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Dar visibilidad a empresas más pequeñas.</a:t>
            </a:r>
          </a:p>
          <a:p>
            <a:pPr algn="l" marL="0" indent="0" lvl="0">
              <a:lnSpc>
                <a:spcPts val="2828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747710" y="4059812"/>
            <a:ext cx="3281419" cy="393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082" spc="204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Cada vez son más las personas que necesitan contratar distintos servicios. </a:t>
            </a:r>
          </a:p>
          <a:p>
            <a:pPr algn="l" marL="0" indent="0" lvl="0">
              <a:lnSpc>
                <a:spcPts val="2873"/>
              </a:lnSpc>
              <a:spcBef>
                <a:spcPct val="0"/>
              </a:spcBef>
            </a:pPr>
            <a:r>
              <a:rPr lang="en-US" sz="2082" spc="204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El objetivo es que los usuarios con un solo click puedan escoger la empresa y el servicio que más se adapte a sus necesidades.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50622" y="3655008"/>
            <a:ext cx="4475594" cy="5151030"/>
            <a:chOff x="0" y="0"/>
            <a:chExt cx="1178757" cy="13566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8757" cy="1356650"/>
            </a:xfrm>
            <a:custGeom>
              <a:avLst/>
              <a:gdLst/>
              <a:ahLst/>
              <a:cxnLst/>
              <a:rect r="r" b="b" t="t" l="l"/>
              <a:pathLst>
                <a:path h="1356650" w="1178757">
                  <a:moveTo>
                    <a:pt x="34596" y="0"/>
                  </a:moveTo>
                  <a:lnTo>
                    <a:pt x="1144161" y="0"/>
                  </a:lnTo>
                  <a:cubicBezTo>
                    <a:pt x="1153337" y="0"/>
                    <a:pt x="1162136" y="3645"/>
                    <a:pt x="1168624" y="10133"/>
                  </a:cubicBezTo>
                  <a:cubicBezTo>
                    <a:pt x="1175112" y="16621"/>
                    <a:pt x="1178757" y="25421"/>
                    <a:pt x="1178757" y="34596"/>
                  </a:cubicBezTo>
                  <a:lnTo>
                    <a:pt x="1178757" y="1322054"/>
                  </a:lnTo>
                  <a:cubicBezTo>
                    <a:pt x="1178757" y="1341161"/>
                    <a:pt x="1163268" y="1356650"/>
                    <a:pt x="1144161" y="1356650"/>
                  </a:cubicBezTo>
                  <a:lnTo>
                    <a:pt x="34596" y="1356650"/>
                  </a:lnTo>
                  <a:cubicBezTo>
                    <a:pt x="25421" y="1356650"/>
                    <a:pt x="16621" y="1353005"/>
                    <a:pt x="10133" y="1346517"/>
                  </a:cubicBezTo>
                  <a:cubicBezTo>
                    <a:pt x="3645" y="1340029"/>
                    <a:pt x="0" y="1331229"/>
                    <a:pt x="0" y="1322054"/>
                  </a:cubicBezTo>
                  <a:lnTo>
                    <a:pt x="0" y="34596"/>
                  </a:lnTo>
                  <a:cubicBezTo>
                    <a:pt x="0" y="25421"/>
                    <a:pt x="3645" y="16621"/>
                    <a:pt x="10133" y="10133"/>
                  </a:cubicBezTo>
                  <a:cubicBezTo>
                    <a:pt x="16621" y="3645"/>
                    <a:pt x="25421" y="0"/>
                    <a:pt x="34596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78757" cy="140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78667" y="3623212"/>
            <a:ext cx="4475594" cy="5164530"/>
            <a:chOff x="0" y="0"/>
            <a:chExt cx="1178757" cy="13602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8757" cy="1360205"/>
            </a:xfrm>
            <a:custGeom>
              <a:avLst/>
              <a:gdLst/>
              <a:ahLst/>
              <a:cxnLst/>
              <a:rect r="r" b="b" t="t" l="l"/>
              <a:pathLst>
                <a:path h="1360205" w="1178757">
                  <a:moveTo>
                    <a:pt x="34596" y="0"/>
                  </a:moveTo>
                  <a:lnTo>
                    <a:pt x="1144161" y="0"/>
                  </a:lnTo>
                  <a:cubicBezTo>
                    <a:pt x="1153337" y="0"/>
                    <a:pt x="1162136" y="3645"/>
                    <a:pt x="1168624" y="10133"/>
                  </a:cubicBezTo>
                  <a:cubicBezTo>
                    <a:pt x="1175112" y="16621"/>
                    <a:pt x="1178757" y="25421"/>
                    <a:pt x="1178757" y="34596"/>
                  </a:cubicBezTo>
                  <a:lnTo>
                    <a:pt x="1178757" y="1325609"/>
                  </a:lnTo>
                  <a:cubicBezTo>
                    <a:pt x="1178757" y="1344716"/>
                    <a:pt x="1163268" y="1360205"/>
                    <a:pt x="1144161" y="1360205"/>
                  </a:cubicBezTo>
                  <a:lnTo>
                    <a:pt x="34596" y="1360205"/>
                  </a:lnTo>
                  <a:cubicBezTo>
                    <a:pt x="25421" y="1360205"/>
                    <a:pt x="16621" y="1356561"/>
                    <a:pt x="10133" y="1350072"/>
                  </a:cubicBezTo>
                  <a:cubicBezTo>
                    <a:pt x="3645" y="1343584"/>
                    <a:pt x="0" y="1334785"/>
                    <a:pt x="0" y="1325609"/>
                  </a:cubicBezTo>
                  <a:lnTo>
                    <a:pt x="0" y="34596"/>
                  </a:lnTo>
                  <a:cubicBezTo>
                    <a:pt x="0" y="25421"/>
                    <a:pt x="3645" y="16621"/>
                    <a:pt x="10133" y="10133"/>
                  </a:cubicBezTo>
                  <a:cubicBezTo>
                    <a:pt x="16621" y="3645"/>
                    <a:pt x="25421" y="0"/>
                    <a:pt x="34596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78757" cy="1379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690980" y="1329960"/>
            <a:ext cx="10906040" cy="79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b="true" sz="4745" spc="37">
                <a:solidFill>
                  <a:srgbClr val="344F51"/>
                </a:solidFill>
                <a:latin typeface="Fraunces Bold"/>
                <a:ea typeface="Fraunces Bold"/>
                <a:cs typeface="Fraunces Bold"/>
                <a:sym typeface="Fraunces Bold"/>
              </a:rPr>
              <a:t>JUSTIFICACIÓN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5030" y="4186108"/>
            <a:ext cx="4194209" cy="368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8"/>
              </a:lnSpc>
              <a:spcBef>
                <a:spcPct val="0"/>
              </a:spcBef>
            </a:pPr>
            <a:r>
              <a:rPr lang="en-US" sz="2143" spc="210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Sitio web en el que se pueda realizar la contratación, por parte de los usuarios, de servicios ofrecidos por distintas empresas destinados al cuidado de personas mayores y/o personas que necesitan ayuda.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08853" y="424928"/>
            <a:ext cx="19354610" cy="1639695"/>
            <a:chOff x="0" y="0"/>
            <a:chExt cx="1876002" cy="158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6002" cy="158932"/>
            </a:xfrm>
            <a:custGeom>
              <a:avLst/>
              <a:gdLst/>
              <a:ahLst/>
              <a:cxnLst/>
              <a:rect r="r" b="b" t="t" l="l"/>
              <a:pathLst>
                <a:path h="158932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158932"/>
                  </a:lnTo>
                  <a:lnTo>
                    <a:pt x="1876002" y="158932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EEE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1672802" cy="177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407406"/>
            <a:ext cx="2667835" cy="810936"/>
            <a:chOff x="0" y="0"/>
            <a:chExt cx="620299" cy="1885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0299" cy="188551"/>
            </a:xfrm>
            <a:custGeom>
              <a:avLst/>
              <a:gdLst/>
              <a:ahLst/>
              <a:cxnLst/>
              <a:rect r="r" b="b" t="t" l="l"/>
              <a:pathLst>
                <a:path h="188551" w="620299">
                  <a:moveTo>
                    <a:pt x="23216" y="0"/>
                  </a:moveTo>
                  <a:lnTo>
                    <a:pt x="597084" y="0"/>
                  </a:lnTo>
                  <a:cubicBezTo>
                    <a:pt x="609905" y="0"/>
                    <a:pt x="620299" y="10394"/>
                    <a:pt x="620299" y="23216"/>
                  </a:cubicBezTo>
                  <a:lnTo>
                    <a:pt x="620299" y="165335"/>
                  </a:lnTo>
                  <a:cubicBezTo>
                    <a:pt x="620299" y="178157"/>
                    <a:pt x="609905" y="188551"/>
                    <a:pt x="597084" y="188551"/>
                  </a:cubicBezTo>
                  <a:lnTo>
                    <a:pt x="23216" y="188551"/>
                  </a:lnTo>
                  <a:cubicBezTo>
                    <a:pt x="10394" y="188551"/>
                    <a:pt x="0" y="178157"/>
                    <a:pt x="0" y="165335"/>
                  </a:cubicBezTo>
                  <a:lnTo>
                    <a:pt x="0" y="23216"/>
                  </a:lnTo>
                  <a:cubicBezTo>
                    <a:pt x="0" y="10394"/>
                    <a:pt x="10394" y="0"/>
                    <a:pt x="23216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620299" cy="2647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USUARIOS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8128" y="4911527"/>
            <a:ext cx="3887759" cy="3328894"/>
          </a:xfrm>
          <a:custGeom>
            <a:avLst/>
            <a:gdLst/>
            <a:ahLst/>
            <a:cxnLst/>
            <a:rect r="r" b="b" t="t" l="l"/>
            <a:pathLst>
              <a:path h="3328894" w="3887759">
                <a:moveTo>
                  <a:pt x="0" y="0"/>
                </a:moveTo>
                <a:lnTo>
                  <a:pt x="3887759" y="0"/>
                </a:lnTo>
                <a:lnTo>
                  <a:pt x="3887759" y="3328893"/>
                </a:lnTo>
                <a:lnTo>
                  <a:pt x="0" y="3328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58038" y="808479"/>
            <a:ext cx="9308329" cy="79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51786E"/>
                </a:solidFill>
                <a:latin typeface="Fraunces"/>
                <a:ea typeface="Fraunces"/>
                <a:cs typeface="Fraunces"/>
                <a:sym typeface="Fraunces"/>
              </a:rPr>
              <a:t>ROLES Y PERMISOS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358876" y="3407406"/>
            <a:ext cx="2385400" cy="810936"/>
            <a:chOff x="0" y="0"/>
            <a:chExt cx="554630" cy="188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630" cy="188551"/>
            </a:xfrm>
            <a:custGeom>
              <a:avLst/>
              <a:gdLst/>
              <a:ahLst/>
              <a:cxnLst/>
              <a:rect r="r" b="b" t="t" l="l"/>
              <a:pathLst>
                <a:path h="188551" w="554630">
                  <a:moveTo>
                    <a:pt x="25964" y="0"/>
                  </a:moveTo>
                  <a:lnTo>
                    <a:pt x="528666" y="0"/>
                  </a:lnTo>
                  <a:cubicBezTo>
                    <a:pt x="535552" y="0"/>
                    <a:pt x="542156" y="2736"/>
                    <a:pt x="547026" y="7605"/>
                  </a:cubicBezTo>
                  <a:cubicBezTo>
                    <a:pt x="551895" y="12474"/>
                    <a:pt x="554630" y="19078"/>
                    <a:pt x="554630" y="25964"/>
                  </a:cubicBezTo>
                  <a:lnTo>
                    <a:pt x="554630" y="162587"/>
                  </a:lnTo>
                  <a:cubicBezTo>
                    <a:pt x="554630" y="176926"/>
                    <a:pt x="543006" y="188551"/>
                    <a:pt x="528666" y="188551"/>
                  </a:cubicBezTo>
                  <a:lnTo>
                    <a:pt x="25964" y="188551"/>
                  </a:lnTo>
                  <a:cubicBezTo>
                    <a:pt x="11625" y="188551"/>
                    <a:pt x="0" y="176926"/>
                    <a:pt x="0" y="162587"/>
                  </a:cubicBezTo>
                  <a:lnTo>
                    <a:pt x="0" y="25964"/>
                  </a:lnTo>
                  <a:cubicBezTo>
                    <a:pt x="0" y="11625"/>
                    <a:pt x="11625" y="0"/>
                    <a:pt x="25964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554630" cy="2647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EMPRESA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06616" y="3407406"/>
            <a:ext cx="2667835" cy="810936"/>
            <a:chOff x="0" y="0"/>
            <a:chExt cx="620299" cy="188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0299" cy="188551"/>
            </a:xfrm>
            <a:custGeom>
              <a:avLst/>
              <a:gdLst/>
              <a:ahLst/>
              <a:cxnLst/>
              <a:rect r="r" b="b" t="t" l="l"/>
              <a:pathLst>
                <a:path h="188551" w="620299">
                  <a:moveTo>
                    <a:pt x="23216" y="0"/>
                  </a:moveTo>
                  <a:lnTo>
                    <a:pt x="597084" y="0"/>
                  </a:lnTo>
                  <a:cubicBezTo>
                    <a:pt x="609905" y="0"/>
                    <a:pt x="620299" y="10394"/>
                    <a:pt x="620299" y="23216"/>
                  </a:cubicBezTo>
                  <a:lnTo>
                    <a:pt x="620299" y="165335"/>
                  </a:lnTo>
                  <a:cubicBezTo>
                    <a:pt x="620299" y="178157"/>
                    <a:pt x="609905" y="188551"/>
                    <a:pt x="597084" y="188551"/>
                  </a:cubicBezTo>
                  <a:lnTo>
                    <a:pt x="23216" y="188551"/>
                  </a:lnTo>
                  <a:cubicBezTo>
                    <a:pt x="10394" y="188551"/>
                    <a:pt x="0" y="178157"/>
                    <a:pt x="0" y="165335"/>
                  </a:cubicBezTo>
                  <a:lnTo>
                    <a:pt x="0" y="23216"/>
                  </a:lnTo>
                  <a:cubicBezTo>
                    <a:pt x="0" y="10394"/>
                    <a:pt x="10394" y="0"/>
                    <a:pt x="23216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620299" cy="2647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811142" y="5146355"/>
            <a:ext cx="1858783" cy="2750241"/>
          </a:xfrm>
          <a:custGeom>
            <a:avLst/>
            <a:gdLst/>
            <a:ahLst/>
            <a:cxnLst/>
            <a:rect r="r" b="b" t="t" l="l"/>
            <a:pathLst>
              <a:path h="2750241" w="1858783">
                <a:moveTo>
                  <a:pt x="0" y="0"/>
                </a:moveTo>
                <a:lnTo>
                  <a:pt x="1858783" y="0"/>
                </a:lnTo>
                <a:lnTo>
                  <a:pt x="1858783" y="2750241"/>
                </a:lnTo>
                <a:lnTo>
                  <a:pt x="0" y="275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86581" y="5066851"/>
            <a:ext cx="2829745" cy="2829745"/>
          </a:xfrm>
          <a:custGeom>
            <a:avLst/>
            <a:gdLst/>
            <a:ahLst/>
            <a:cxnLst/>
            <a:rect r="r" b="b" t="t" l="l"/>
            <a:pathLst>
              <a:path h="2829745" w="2829745">
                <a:moveTo>
                  <a:pt x="0" y="0"/>
                </a:moveTo>
                <a:lnTo>
                  <a:pt x="2829745" y="0"/>
                </a:lnTo>
                <a:lnTo>
                  <a:pt x="2829745" y="2829745"/>
                </a:lnTo>
                <a:lnTo>
                  <a:pt x="0" y="282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645282"/>
          <a:ext cx="11291915" cy="8229600"/>
        </p:xfrm>
        <a:graphic>
          <a:graphicData uri="http://schemas.openxmlformats.org/presentationml/2006/ole">
            <p:oleObj imgW="13550900" imgH="10477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5357" y="538989"/>
            <a:ext cx="7162260" cy="1961344"/>
            <a:chOff x="0" y="0"/>
            <a:chExt cx="1012764" cy="277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2764" cy="277340"/>
            </a:xfrm>
            <a:custGeom>
              <a:avLst/>
              <a:gdLst/>
              <a:ahLst/>
              <a:cxnLst/>
              <a:rect r="r" b="b" t="t" l="l"/>
              <a:pathLst>
                <a:path h="277340" w="1012764">
                  <a:moveTo>
                    <a:pt x="809564" y="0"/>
                  </a:moveTo>
                  <a:lnTo>
                    <a:pt x="0" y="0"/>
                  </a:lnTo>
                  <a:lnTo>
                    <a:pt x="203200" y="277340"/>
                  </a:lnTo>
                  <a:lnTo>
                    <a:pt x="1012764" y="277340"/>
                  </a:lnTo>
                  <a:lnTo>
                    <a:pt x="809564" y="0"/>
                  </a:lnTo>
                  <a:close/>
                </a:path>
              </a:pathLst>
            </a:custGeom>
            <a:solidFill>
              <a:srgbClr val="EEE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809564" cy="296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8202" y="4555916"/>
            <a:ext cx="2340497" cy="2592195"/>
          </a:xfrm>
          <a:custGeom>
            <a:avLst/>
            <a:gdLst/>
            <a:ahLst/>
            <a:cxnLst/>
            <a:rect r="r" b="b" t="t" l="l"/>
            <a:pathLst>
              <a:path h="2592195" w="2340497">
                <a:moveTo>
                  <a:pt x="0" y="0"/>
                </a:moveTo>
                <a:lnTo>
                  <a:pt x="2340498" y="0"/>
                </a:lnTo>
                <a:lnTo>
                  <a:pt x="2340498" y="2592195"/>
                </a:lnTo>
                <a:lnTo>
                  <a:pt x="0" y="2592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48451" y="6513095"/>
            <a:ext cx="1510002" cy="1557831"/>
          </a:xfrm>
          <a:custGeom>
            <a:avLst/>
            <a:gdLst/>
            <a:ahLst/>
            <a:cxnLst/>
            <a:rect r="r" b="b" t="t" l="l"/>
            <a:pathLst>
              <a:path h="1557831" w="1510002">
                <a:moveTo>
                  <a:pt x="0" y="0"/>
                </a:moveTo>
                <a:lnTo>
                  <a:pt x="1510002" y="0"/>
                </a:lnTo>
                <a:lnTo>
                  <a:pt x="1510002" y="1557831"/>
                </a:lnTo>
                <a:lnTo>
                  <a:pt x="0" y="1557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05746" y="639089"/>
            <a:ext cx="12153554" cy="9008822"/>
          </a:xfrm>
          <a:custGeom>
            <a:avLst/>
            <a:gdLst/>
            <a:ahLst/>
            <a:cxnLst/>
            <a:rect r="r" b="b" t="t" l="l"/>
            <a:pathLst>
              <a:path h="9008822" w="12153554">
                <a:moveTo>
                  <a:pt x="0" y="0"/>
                </a:moveTo>
                <a:lnTo>
                  <a:pt x="12153554" y="0"/>
                </a:lnTo>
                <a:lnTo>
                  <a:pt x="12153554" y="9008822"/>
                </a:lnTo>
                <a:lnTo>
                  <a:pt x="0" y="90088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517" y="918729"/>
            <a:ext cx="2690935" cy="114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98"/>
              </a:lnSpc>
              <a:spcBef>
                <a:spcPct val="0"/>
              </a:spcBef>
            </a:pPr>
            <a:r>
              <a:rPr lang="en-US" sz="3332" spc="26">
                <a:solidFill>
                  <a:srgbClr val="51786E"/>
                </a:solidFill>
                <a:latin typeface="Fraunces"/>
                <a:ea typeface="Fraunces"/>
                <a:cs typeface="Fraunces"/>
                <a:sym typeface="Fraunces"/>
              </a:rPr>
              <a:t>BASE DE DATOS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13308" y="823034"/>
            <a:ext cx="19354610" cy="1461811"/>
            <a:chOff x="0" y="0"/>
            <a:chExt cx="1876002" cy="141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6002" cy="141690"/>
            </a:xfrm>
            <a:custGeom>
              <a:avLst/>
              <a:gdLst/>
              <a:ahLst/>
              <a:cxnLst/>
              <a:rect r="r" b="b" t="t" l="l"/>
              <a:pathLst>
                <a:path h="141690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141690"/>
                  </a:lnTo>
                  <a:lnTo>
                    <a:pt x="1876002" y="141690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EEE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1672802" cy="160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0765" y="3591042"/>
            <a:ext cx="5008014" cy="859690"/>
            <a:chOff x="0" y="0"/>
            <a:chExt cx="1164415" cy="199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4415" cy="199887"/>
            </a:xfrm>
            <a:custGeom>
              <a:avLst/>
              <a:gdLst/>
              <a:ahLst/>
              <a:cxnLst/>
              <a:rect r="r" b="b" t="t" l="l"/>
              <a:pathLst>
                <a:path h="199887" w="1164415">
                  <a:moveTo>
                    <a:pt x="12367" y="0"/>
                  </a:moveTo>
                  <a:lnTo>
                    <a:pt x="1152048" y="0"/>
                  </a:lnTo>
                  <a:cubicBezTo>
                    <a:pt x="1158878" y="0"/>
                    <a:pt x="1164415" y="5537"/>
                    <a:pt x="1164415" y="12367"/>
                  </a:cubicBezTo>
                  <a:lnTo>
                    <a:pt x="1164415" y="187520"/>
                  </a:lnTo>
                  <a:cubicBezTo>
                    <a:pt x="1164415" y="190800"/>
                    <a:pt x="1163112" y="193945"/>
                    <a:pt x="1160793" y="196265"/>
                  </a:cubicBezTo>
                  <a:cubicBezTo>
                    <a:pt x="1158474" y="198584"/>
                    <a:pt x="1155328" y="199887"/>
                    <a:pt x="1152048" y="199887"/>
                  </a:cubicBezTo>
                  <a:lnTo>
                    <a:pt x="12367" y="199887"/>
                  </a:lnTo>
                  <a:cubicBezTo>
                    <a:pt x="5537" y="199887"/>
                    <a:pt x="0" y="194350"/>
                    <a:pt x="0" y="187520"/>
                  </a:cubicBezTo>
                  <a:lnTo>
                    <a:pt x="0" y="12367"/>
                  </a:lnTo>
                  <a:cubicBezTo>
                    <a:pt x="0" y="5537"/>
                    <a:pt x="5537" y="0"/>
                    <a:pt x="12367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164415" cy="2760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APLICACIÓN CLIENTE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41754" y="3466122"/>
            <a:ext cx="5964636" cy="859690"/>
            <a:chOff x="0" y="0"/>
            <a:chExt cx="1386840" cy="1998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6840" cy="199887"/>
            </a:xfrm>
            <a:custGeom>
              <a:avLst/>
              <a:gdLst/>
              <a:ahLst/>
              <a:cxnLst/>
              <a:rect r="r" b="b" t="t" l="l"/>
              <a:pathLst>
                <a:path h="199887" w="1386840">
                  <a:moveTo>
                    <a:pt x="10384" y="0"/>
                  </a:moveTo>
                  <a:lnTo>
                    <a:pt x="1376456" y="0"/>
                  </a:lnTo>
                  <a:cubicBezTo>
                    <a:pt x="1379210" y="0"/>
                    <a:pt x="1381851" y="1094"/>
                    <a:pt x="1383799" y="3041"/>
                  </a:cubicBezTo>
                  <a:cubicBezTo>
                    <a:pt x="1385746" y="4989"/>
                    <a:pt x="1386840" y="7630"/>
                    <a:pt x="1386840" y="10384"/>
                  </a:cubicBezTo>
                  <a:lnTo>
                    <a:pt x="1386840" y="189503"/>
                  </a:lnTo>
                  <a:cubicBezTo>
                    <a:pt x="1386840" y="192257"/>
                    <a:pt x="1385746" y="194898"/>
                    <a:pt x="1383799" y="196846"/>
                  </a:cubicBezTo>
                  <a:cubicBezTo>
                    <a:pt x="1381851" y="198793"/>
                    <a:pt x="1379210" y="199887"/>
                    <a:pt x="1376456" y="199887"/>
                  </a:cubicBezTo>
                  <a:lnTo>
                    <a:pt x="10384" y="199887"/>
                  </a:lnTo>
                  <a:cubicBezTo>
                    <a:pt x="7630" y="199887"/>
                    <a:pt x="4989" y="198793"/>
                    <a:pt x="3041" y="196846"/>
                  </a:cubicBezTo>
                  <a:cubicBezTo>
                    <a:pt x="1094" y="194898"/>
                    <a:pt x="0" y="192257"/>
                    <a:pt x="0" y="189503"/>
                  </a:cubicBezTo>
                  <a:lnTo>
                    <a:pt x="0" y="10384"/>
                  </a:lnTo>
                  <a:cubicBezTo>
                    <a:pt x="0" y="7630"/>
                    <a:pt x="1094" y="4989"/>
                    <a:pt x="3041" y="3041"/>
                  </a:cubicBezTo>
                  <a:cubicBezTo>
                    <a:pt x="4989" y="1094"/>
                    <a:pt x="7630" y="0"/>
                    <a:pt x="10384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86840" cy="2760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SERVICIOS EN LA NUBE (BaaS)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7110" y="3466122"/>
            <a:ext cx="4778411" cy="859690"/>
            <a:chOff x="0" y="0"/>
            <a:chExt cx="1111030" cy="1998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030" cy="199887"/>
            </a:xfrm>
            <a:custGeom>
              <a:avLst/>
              <a:gdLst/>
              <a:ahLst/>
              <a:cxnLst/>
              <a:rect r="r" b="b" t="t" l="l"/>
              <a:pathLst>
                <a:path h="199887" w="1111030">
                  <a:moveTo>
                    <a:pt x="12961" y="0"/>
                  </a:moveTo>
                  <a:lnTo>
                    <a:pt x="1098069" y="0"/>
                  </a:lnTo>
                  <a:cubicBezTo>
                    <a:pt x="1105227" y="0"/>
                    <a:pt x="1111030" y="5803"/>
                    <a:pt x="1111030" y="12961"/>
                  </a:cubicBezTo>
                  <a:lnTo>
                    <a:pt x="1111030" y="186925"/>
                  </a:lnTo>
                  <a:cubicBezTo>
                    <a:pt x="1111030" y="190363"/>
                    <a:pt x="1109664" y="193660"/>
                    <a:pt x="1107234" y="196091"/>
                  </a:cubicBezTo>
                  <a:cubicBezTo>
                    <a:pt x="1104803" y="198521"/>
                    <a:pt x="1101506" y="199887"/>
                    <a:pt x="1098069" y="199887"/>
                  </a:cubicBezTo>
                  <a:lnTo>
                    <a:pt x="12961" y="199887"/>
                  </a:lnTo>
                  <a:cubicBezTo>
                    <a:pt x="9524" y="199887"/>
                    <a:pt x="6227" y="198521"/>
                    <a:pt x="3796" y="196091"/>
                  </a:cubicBezTo>
                  <a:cubicBezTo>
                    <a:pt x="1366" y="193660"/>
                    <a:pt x="0" y="190363"/>
                    <a:pt x="0" y="186925"/>
                  </a:cubicBezTo>
                  <a:lnTo>
                    <a:pt x="0" y="12961"/>
                  </a:lnTo>
                  <a:cubicBezTo>
                    <a:pt x="0" y="9524"/>
                    <a:pt x="1366" y="6227"/>
                    <a:pt x="3796" y="3796"/>
                  </a:cubicBezTo>
                  <a:cubicBezTo>
                    <a:pt x="6227" y="1366"/>
                    <a:pt x="9524" y="0"/>
                    <a:pt x="12961" y="0"/>
                  </a:cubicBez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111030" cy="2760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CI/CD &amp;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0765" y="5143500"/>
            <a:ext cx="5052366" cy="4114800"/>
            <a:chOff x="0" y="0"/>
            <a:chExt cx="1174727" cy="956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4728" cy="956734"/>
            </a:xfrm>
            <a:custGeom>
              <a:avLst/>
              <a:gdLst/>
              <a:ahLst/>
              <a:cxnLst/>
              <a:rect r="r" b="b" t="t" l="l"/>
              <a:pathLst>
                <a:path h="956734" w="1174728">
                  <a:moveTo>
                    <a:pt x="12259" y="0"/>
                  </a:moveTo>
                  <a:lnTo>
                    <a:pt x="1162469" y="0"/>
                  </a:lnTo>
                  <a:cubicBezTo>
                    <a:pt x="1165720" y="0"/>
                    <a:pt x="1168838" y="1292"/>
                    <a:pt x="1171137" y="3590"/>
                  </a:cubicBezTo>
                  <a:cubicBezTo>
                    <a:pt x="1173436" y="5889"/>
                    <a:pt x="1174728" y="9007"/>
                    <a:pt x="1174728" y="12259"/>
                  </a:cubicBezTo>
                  <a:lnTo>
                    <a:pt x="1174728" y="944475"/>
                  </a:lnTo>
                  <a:cubicBezTo>
                    <a:pt x="1174728" y="951245"/>
                    <a:pt x="1169239" y="956734"/>
                    <a:pt x="1162469" y="956734"/>
                  </a:cubicBezTo>
                  <a:lnTo>
                    <a:pt x="12259" y="956734"/>
                  </a:lnTo>
                  <a:cubicBezTo>
                    <a:pt x="9007" y="956734"/>
                    <a:pt x="5889" y="955442"/>
                    <a:pt x="3590" y="953143"/>
                  </a:cubicBezTo>
                  <a:cubicBezTo>
                    <a:pt x="1292" y="950844"/>
                    <a:pt x="0" y="947726"/>
                    <a:pt x="0" y="944475"/>
                  </a:cubicBezTo>
                  <a:lnTo>
                    <a:pt x="0" y="12259"/>
                  </a:lnTo>
                  <a:cubicBezTo>
                    <a:pt x="0" y="9007"/>
                    <a:pt x="1292" y="5889"/>
                    <a:pt x="3590" y="3590"/>
                  </a:cubicBezTo>
                  <a:cubicBezTo>
                    <a:pt x="5889" y="1292"/>
                    <a:pt x="9007" y="0"/>
                    <a:pt x="12259" y="0"/>
                  </a:cubicBezTo>
                  <a:close/>
                </a:path>
              </a:pathLst>
            </a:custGeom>
            <a:solidFill>
              <a:srgbClr val="EEEAE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74727" cy="10329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60334" y="5303959"/>
            <a:ext cx="1896941" cy="1896941"/>
          </a:xfrm>
          <a:custGeom>
            <a:avLst/>
            <a:gdLst/>
            <a:ahLst/>
            <a:cxnLst/>
            <a:rect r="r" b="b" t="t" l="l"/>
            <a:pathLst>
              <a:path h="1896941" w="1896941">
                <a:moveTo>
                  <a:pt x="0" y="0"/>
                </a:moveTo>
                <a:lnTo>
                  <a:pt x="1896940" y="0"/>
                </a:lnTo>
                <a:lnTo>
                  <a:pt x="1896940" y="1896941"/>
                </a:lnTo>
                <a:lnTo>
                  <a:pt x="0" y="189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464693" y="5143500"/>
            <a:ext cx="5741697" cy="4114800"/>
            <a:chOff x="0" y="0"/>
            <a:chExt cx="1335004" cy="9567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5004" cy="956734"/>
            </a:xfrm>
            <a:custGeom>
              <a:avLst/>
              <a:gdLst/>
              <a:ahLst/>
              <a:cxnLst/>
              <a:rect r="r" b="b" t="t" l="l"/>
              <a:pathLst>
                <a:path h="956734" w="1335004">
                  <a:moveTo>
                    <a:pt x="10787" y="0"/>
                  </a:moveTo>
                  <a:lnTo>
                    <a:pt x="1324217" y="0"/>
                  </a:lnTo>
                  <a:cubicBezTo>
                    <a:pt x="1327078" y="0"/>
                    <a:pt x="1329822" y="1136"/>
                    <a:pt x="1331845" y="3159"/>
                  </a:cubicBezTo>
                  <a:cubicBezTo>
                    <a:pt x="1333868" y="5182"/>
                    <a:pt x="1335004" y="7926"/>
                    <a:pt x="1335004" y="10787"/>
                  </a:cubicBezTo>
                  <a:lnTo>
                    <a:pt x="1335004" y="945947"/>
                  </a:lnTo>
                  <a:cubicBezTo>
                    <a:pt x="1335004" y="951904"/>
                    <a:pt x="1330175" y="956734"/>
                    <a:pt x="1324217" y="956734"/>
                  </a:cubicBezTo>
                  <a:lnTo>
                    <a:pt x="10787" y="956734"/>
                  </a:lnTo>
                  <a:cubicBezTo>
                    <a:pt x="7926" y="956734"/>
                    <a:pt x="5182" y="955597"/>
                    <a:pt x="3159" y="953574"/>
                  </a:cubicBezTo>
                  <a:cubicBezTo>
                    <a:pt x="1136" y="951551"/>
                    <a:pt x="0" y="948808"/>
                    <a:pt x="0" y="945947"/>
                  </a:cubicBezTo>
                  <a:lnTo>
                    <a:pt x="0" y="10787"/>
                  </a:lnTo>
                  <a:cubicBezTo>
                    <a:pt x="0" y="7926"/>
                    <a:pt x="1136" y="5182"/>
                    <a:pt x="3159" y="3159"/>
                  </a:cubicBezTo>
                  <a:cubicBezTo>
                    <a:pt x="5182" y="1136"/>
                    <a:pt x="7926" y="0"/>
                    <a:pt x="10787" y="0"/>
                  </a:cubicBezTo>
                  <a:close/>
                </a:path>
              </a:pathLst>
            </a:custGeom>
            <a:solidFill>
              <a:srgbClr val="EEEAE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335004" cy="10329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152242" y="6132173"/>
            <a:ext cx="2071830" cy="2137454"/>
          </a:xfrm>
          <a:custGeom>
            <a:avLst/>
            <a:gdLst/>
            <a:ahLst/>
            <a:cxnLst/>
            <a:rect r="r" b="b" t="t" l="l"/>
            <a:pathLst>
              <a:path h="2137454" w="2071830">
                <a:moveTo>
                  <a:pt x="0" y="0"/>
                </a:moveTo>
                <a:lnTo>
                  <a:pt x="2071830" y="0"/>
                </a:lnTo>
                <a:lnTo>
                  <a:pt x="2071830" y="2137454"/>
                </a:lnTo>
                <a:lnTo>
                  <a:pt x="0" y="2137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38397" y="5969473"/>
            <a:ext cx="2300154" cy="2300154"/>
          </a:xfrm>
          <a:custGeom>
            <a:avLst/>
            <a:gdLst/>
            <a:ahLst/>
            <a:cxnLst/>
            <a:rect r="r" b="b" t="t" l="l"/>
            <a:pathLst>
              <a:path h="2300154" w="2300154">
                <a:moveTo>
                  <a:pt x="0" y="0"/>
                </a:moveTo>
                <a:lnTo>
                  <a:pt x="2300154" y="0"/>
                </a:lnTo>
                <a:lnTo>
                  <a:pt x="2300154" y="2300154"/>
                </a:lnTo>
                <a:lnTo>
                  <a:pt x="0" y="2300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147110" y="5062150"/>
            <a:ext cx="4778411" cy="4114800"/>
            <a:chOff x="0" y="0"/>
            <a:chExt cx="1111030" cy="9567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1030" cy="956734"/>
            </a:xfrm>
            <a:custGeom>
              <a:avLst/>
              <a:gdLst/>
              <a:ahLst/>
              <a:cxnLst/>
              <a:rect r="r" b="b" t="t" l="l"/>
              <a:pathLst>
                <a:path h="956734" w="1111030">
                  <a:moveTo>
                    <a:pt x="12961" y="0"/>
                  </a:moveTo>
                  <a:lnTo>
                    <a:pt x="1098069" y="0"/>
                  </a:lnTo>
                  <a:cubicBezTo>
                    <a:pt x="1105227" y="0"/>
                    <a:pt x="1111030" y="5803"/>
                    <a:pt x="1111030" y="12961"/>
                  </a:cubicBezTo>
                  <a:lnTo>
                    <a:pt x="1111030" y="943772"/>
                  </a:lnTo>
                  <a:cubicBezTo>
                    <a:pt x="1111030" y="947210"/>
                    <a:pt x="1109664" y="950507"/>
                    <a:pt x="1107234" y="952937"/>
                  </a:cubicBezTo>
                  <a:cubicBezTo>
                    <a:pt x="1104803" y="955368"/>
                    <a:pt x="1101506" y="956734"/>
                    <a:pt x="1098069" y="956734"/>
                  </a:cubicBezTo>
                  <a:lnTo>
                    <a:pt x="12961" y="956734"/>
                  </a:lnTo>
                  <a:cubicBezTo>
                    <a:pt x="9524" y="956734"/>
                    <a:pt x="6227" y="955368"/>
                    <a:pt x="3796" y="952937"/>
                  </a:cubicBezTo>
                  <a:cubicBezTo>
                    <a:pt x="1366" y="950507"/>
                    <a:pt x="0" y="947210"/>
                    <a:pt x="0" y="943772"/>
                  </a:cubicBezTo>
                  <a:lnTo>
                    <a:pt x="0" y="12961"/>
                  </a:lnTo>
                  <a:cubicBezTo>
                    <a:pt x="0" y="9524"/>
                    <a:pt x="1366" y="6227"/>
                    <a:pt x="3796" y="3796"/>
                  </a:cubicBezTo>
                  <a:cubicBezTo>
                    <a:pt x="6227" y="1366"/>
                    <a:pt x="9524" y="0"/>
                    <a:pt x="12961" y="0"/>
                  </a:cubicBezTo>
                  <a:close/>
                </a:path>
              </a:pathLst>
            </a:custGeom>
            <a:solidFill>
              <a:srgbClr val="EEEAE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111030" cy="103293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292160" y="5317149"/>
            <a:ext cx="4388901" cy="1623893"/>
          </a:xfrm>
          <a:custGeom>
            <a:avLst/>
            <a:gdLst/>
            <a:ahLst/>
            <a:cxnLst/>
            <a:rect r="r" b="b" t="t" l="l"/>
            <a:pathLst>
              <a:path h="1623893" w="4388901">
                <a:moveTo>
                  <a:pt x="0" y="0"/>
                </a:moveTo>
                <a:lnTo>
                  <a:pt x="4388901" y="0"/>
                </a:lnTo>
                <a:lnTo>
                  <a:pt x="4388901" y="1623893"/>
                </a:lnTo>
                <a:lnTo>
                  <a:pt x="0" y="162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568872" y="7220355"/>
            <a:ext cx="4112190" cy="1956595"/>
          </a:xfrm>
          <a:custGeom>
            <a:avLst/>
            <a:gdLst/>
            <a:ahLst/>
            <a:cxnLst/>
            <a:rect r="r" b="b" t="t" l="l"/>
            <a:pathLst>
              <a:path h="1956595" w="4112190">
                <a:moveTo>
                  <a:pt x="0" y="0"/>
                </a:moveTo>
                <a:lnTo>
                  <a:pt x="4112189" y="0"/>
                </a:lnTo>
                <a:lnTo>
                  <a:pt x="4112189" y="1956595"/>
                </a:lnTo>
                <a:lnTo>
                  <a:pt x="0" y="1956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339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21964" y="7609486"/>
            <a:ext cx="2156896" cy="1320282"/>
          </a:xfrm>
          <a:custGeom>
            <a:avLst/>
            <a:gdLst/>
            <a:ahLst/>
            <a:cxnLst/>
            <a:rect r="r" b="b" t="t" l="l"/>
            <a:pathLst>
              <a:path h="1320282" w="2156896">
                <a:moveTo>
                  <a:pt x="0" y="0"/>
                </a:moveTo>
                <a:lnTo>
                  <a:pt x="2156896" y="0"/>
                </a:lnTo>
                <a:lnTo>
                  <a:pt x="2156896" y="1320282"/>
                </a:lnTo>
                <a:lnTo>
                  <a:pt x="0" y="1320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96508" y="5756930"/>
            <a:ext cx="1660848" cy="1660848"/>
          </a:xfrm>
          <a:custGeom>
            <a:avLst/>
            <a:gdLst/>
            <a:ahLst/>
            <a:cxnLst/>
            <a:rect r="r" b="b" t="t" l="l"/>
            <a:pathLst>
              <a:path h="1660848" w="1660848">
                <a:moveTo>
                  <a:pt x="0" y="0"/>
                </a:moveTo>
                <a:lnTo>
                  <a:pt x="1660848" y="0"/>
                </a:lnTo>
                <a:lnTo>
                  <a:pt x="1660848" y="1660847"/>
                </a:lnTo>
                <a:lnTo>
                  <a:pt x="0" y="1660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469189" y="6661244"/>
            <a:ext cx="869445" cy="539656"/>
            <a:chOff x="0" y="0"/>
            <a:chExt cx="7366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66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6600">
                  <a:moveTo>
                    <a:pt x="736600" y="228606"/>
                  </a:moveTo>
                  <a:lnTo>
                    <a:pt x="476634" y="457200"/>
                  </a:lnTo>
                  <a:lnTo>
                    <a:pt x="492392" y="332453"/>
                  </a:lnTo>
                  <a:lnTo>
                    <a:pt x="244208" y="332453"/>
                  </a:lnTo>
                  <a:lnTo>
                    <a:pt x="259966" y="457200"/>
                  </a:lnTo>
                  <a:lnTo>
                    <a:pt x="0" y="228606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92404" y="124785"/>
                  </a:lnTo>
                  <a:lnTo>
                    <a:pt x="476634" y="0"/>
                  </a:lnTo>
                  <a:lnTo>
                    <a:pt x="736600" y="228606"/>
                  </a:ln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107950"/>
              <a:ext cx="5080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12314970" y="6661244"/>
            <a:ext cx="723560" cy="595873"/>
            <a:chOff x="0" y="0"/>
            <a:chExt cx="6477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3D14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0650" y="146050"/>
              <a:ext cx="52705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87589" y="1117644"/>
            <a:ext cx="9308329" cy="79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51786E"/>
                </a:solidFill>
                <a:latin typeface="Fraunces"/>
                <a:ea typeface="Fraunces"/>
                <a:cs typeface="Fraunces"/>
                <a:sym typeface="Fraunces"/>
              </a:rPr>
              <a:t>TECNOLOGÍAS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27072" y="6376255"/>
            <a:ext cx="899357" cy="27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"/>
              </a:lnSpc>
            </a:pPr>
            <a:r>
              <a:rPr lang="en-US" b="true" sz="738">
                <a:solidFill>
                  <a:srgbClr val="93D14B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Integración Continua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59664" y="6376255"/>
            <a:ext cx="899357" cy="27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"/>
              </a:lnSpc>
            </a:pPr>
            <a:r>
              <a:rPr lang="en-US" b="true" sz="738">
                <a:solidFill>
                  <a:srgbClr val="93D14B"/>
                </a:solidFill>
                <a:latin typeface="Poppins Bold"/>
                <a:ea typeface="Poppins Bold"/>
                <a:cs typeface="Poppins Bold"/>
                <a:sym typeface="Poppins Bold"/>
              </a:rPr>
              <a:t>REST API &amp; Tiempo Real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6496" y="2463569"/>
            <a:ext cx="11196945" cy="6310665"/>
            <a:chOff x="0" y="0"/>
            <a:chExt cx="2948990" cy="1662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990" cy="1662068"/>
            </a:xfrm>
            <a:custGeom>
              <a:avLst/>
              <a:gdLst/>
              <a:ahLst/>
              <a:cxnLst/>
              <a:rect r="r" b="b" t="t" l="l"/>
              <a:pathLst>
                <a:path h="1662068" w="2948990">
                  <a:moveTo>
                    <a:pt x="0" y="0"/>
                  </a:moveTo>
                  <a:lnTo>
                    <a:pt x="2948990" y="0"/>
                  </a:lnTo>
                  <a:lnTo>
                    <a:pt x="2948990" y="1662068"/>
                  </a:lnTo>
                  <a:lnTo>
                    <a:pt x="0" y="16620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48990" cy="168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69158" y="5427811"/>
            <a:ext cx="1699666" cy="1699666"/>
          </a:xfrm>
          <a:custGeom>
            <a:avLst/>
            <a:gdLst/>
            <a:ahLst/>
            <a:cxnLst/>
            <a:rect r="r" b="b" t="t" l="l"/>
            <a:pathLst>
              <a:path h="1699666" w="1699666">
                <a:moveTo>
                  <a:pt x="0" y="0"/>
                </a:moveTo>
                <a:lnTo>
                  <a:pt x="1699666" y="0"/>
                </a:lnTo>
                <a:lnTo>
                  <a:pt x="1699666" y="1699666"/>
                </a:lnTo>
                <a:lnTo>
                  <a:pt x="0" y="1699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>
            <a:hlinkClick r:id="rId4" tooltip="https://www.conectacuidados.eu"/>
          </p:cNvPr>
          <p:cNvSpPr/>
          <p:nvPr/>
        </p:nvSpPr>
        <p:spPr>
          <a:xfrm flipH="false" flipV="false" rot="0">
            <a:off x="5570665" y="4603389"/>
            <a:ext cx="5936428" cy="3730691"/>
          </a:xfrm>
          <a:custGeom>
            <a:avLst/>
            <a:gdLst/>
            <a:ahLst/>
            <a:cxnLst/>
            <a:rect r="r" b="b" t="t" l="l"/>
            <a:pathLst>
              <a:path h="3730691" w="5936428">
                <a:moveTo>
                  <a:pt x="0" y="0"/>
                </a:moveTo>
                <a:lnTo>
                  <a:pt x="5936427" y="0"/>
                </a:lnTo>
                <a:lnTo>
                  <a:pt x="5936427" y="3730691"/>
                </a:lnTo>
                <a:lnTo>
                  <a:pt x="0" y="3730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82564" y="3038086"/>
            <a:ext cx="593642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 spc="-151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</a:t>
            </a:r>
            <a:r>
              <a:rPr lang="en-US" b="true" sz="7599" spc="-151">
                <a:solidFill>
                  <a:srgbClr val="93D1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7312" y="1028700"/>
            <a:ext cx="15591759" cy="8229600"/>
            <a:chOff x="0" y="0"/>
            <a:chExt cx="4106471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6471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06471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30917" y="1754882"/>
            <a:ext cx="10906040" cy="79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b="true" sz="4745" spc="37">
                <a:solidFill>
                  <a:srgbClr val="51786E"/>
                </a:solidFill>
                <a:latin typeface="Fraunces Bold"/>
                <a:ea typeface="Fraunces Bold"/>
                <a:cs typeface="Fraunces Bold"/>
                <a:sym typeface="Fraunces Bold"/>
              </a:rPr>
              <a:t>FUTURAS MEJORAS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6208" y="3153392"/>
            <a:ext cx="13558833" cy="600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b="true" sz="2049" spc="200">
                <a:solidFill>
                  <a:srgbClr val="344F51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Integración de Pasarela de Pago y Modelo de Negocio. Como evolución natural, se propone la integración de una pasarela de pagos segura (como Stripe o PayPal).</a:t>
            </a:r>
          </a:p>
          <a:p>
            <a:pPr algn="l">
              <a:lnSpc>
                <a:spcPts val="2828"/>
              </a:lnSpc>
            </a:pP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b="true" sz="2049" spc="200">
                <a:solidFill>
                  <a:srgbClr val="344F51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Valoraciones.</a:t>
            </a:r>
          </a:p>
          <a:p>
            <a:pPr algn="l">
              <a:lnSpc>
                <a:spcPts val="2828"/>
              </a:lnSpc>
            </a:pP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b="true" sz="2049" spc="200">
                <a:solidFill>
                  <a:srgbClr val="344F51"/>
                </a:solidFill>
                <a:latin typeface="Poppins Bold"/>
                <a:ea typeface="Poppins Bold"/>
                <a:cs typeface="Poppins Bold"/>
                <a:sym typeface="Poppins Bold"/>
              </a:rPr>
              <a:t>Entrevistas por Videollamada (WebRTC). Implementar un módulo de videollamadas integrado directamente en el chat de la aplicación.</a:t>
            </a:r>
          </a:p>
          <a:p>
            <a:pPr algn="l">
              <a:lnSpc>
                <a:spcPts val="2828"/>
              </a:lnSpc>
            </a:pP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b="true" sz="2049" spc="200">
                <a:solidFill>
                  <a:srgbClr val="344F51"/>
                </a:solidFill>
                <a:latin typeface="Poppins Bold"/>
                <a:ea typeface="Poppins Bold"/>
                <a:cs typeface="Poppins Bold"/>
                <a:sym typeface="Poppins Bold"/>
              </a:rPr>
              <a:t>Expansión del Módulo de Inteligencia Artificial. Matchmaking Inteligente: el cliente describe el problema en lenguaje natural y la IA filtra la base de datos y le propone los 3 perfiles profesionales más adecuados.</a:t>
            </a:r>
          </a:p>
          <a:p>
            <a:pPr algn="l">
              <a:lnSpc>
                <a:spcPts val="2828"/>
              </a:lnSpc>
            </a:pPr>
          </a:p>
          <a:p>
            <a:pPr algn="l" marL="442554" indent="-221277" lvl="1">
              <a:lnSpc>
                <a:spcPts val="2828"/>
              </a:lnSpc>
              <a:buFont typeface="Arial"/>
              <a:buChar char="•"/>
            </a:pPr>
            <a:r>
              <a:rPr lang="en-US" b="true" sz="2049" spc="200">
                <a:solidFill>
                  <a:srgbClr val="344F51"/>
                </a:solidFill>
                <a:latin typeface="Poppins Bold"/>
                <a:ea typeface="Poppins Bold"/>
                <a:cs typeface="Poppins Bold"/>
                <a:sym typeface="Poppins Bold"/>
              </a:rPr>
              <a:t>Dar de alta a los usuarios de nuevo por los adnimistradores.</a:t>
            </a:r>
          </a:p>
          <a:p>
            <a:pPr algn="l">
              <a:lnSpc>
                <a:spcPts val="2828"/>
              </a:lnSpc>
            </a:pPr>
          </a:p>
          <a:p>
            <a:pPr algn="l">
              <a:lnSpc>
                <a:spcPts val="2828"/>
              </a:lnSpc>
            </a:pPr>
          </a:p>
          <a:p>
            <a:pPr algn="l">
              <a:lnSpc>
                <a:spcPts val="2828"/>
              </a:lnSpc>
            </a:pPr>
          </a:p>
          <a:p>
            <a:pPr algn="l" marL="0" indent="0" lvl="0">
              <a:lnSpc>
                <a:spcPts val="282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535126" y="9399905"/>
            <a:ext cx="7528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93D1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F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6496" y="2463569"/>
            <a:ext cx="11196945" cy="6310665"/>
            <a:chOff x="0" y="0"/>
            <a:chExt cx="2948990" cy="1662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8990" cy="1662068"/>
            </a:xfrm>
            <a:custGeom>
              <a:avLst/>
              <a:gdLst/>
              <a:ahLst/>
              <a:cxnLst/>
              <a:rect r="r" b="b" t="t" l="l"/>
              <a:pathLst>
                <a:path h="1662068" w="2948990">
                  <a:moveTo>
                    <a:pt x="0" y="0"/>
                  </a:moveTo>
                  <a:lnTo>
                    <a:pt x="2948990" y="0"/>
                  </a:lnTo>
                  <a:lnTo>
                    <a:pt x="2948990" y="1662068"/>
                  </a:lnTo>
                  <a:lnTo>
                    <a:pt x="0" y="16620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48990" cy="168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84793" y="8170984"/>
            <a:ext cx="5949014" cy="2390422"/>
          </a:xfrm>
          <a:custGeom>
            <a:avLst/>
            <a:gdLst/>
            <a:ahLst/>
            <a:cxnLst/>
            <a:rect r="r" b="b" t="t" l="l"/>
            <a:pathLst>
              <a:path h="2390422" w="5949014">
                <a:moveTo>
                  <a:pt x="0" y="0"/>
                </a:moveTo>
                <a:lnTo>
                  <a:pt x="5949014" y="0"/>
                </a:lnTo>
                <a:lnTo>
                  <a:pt x="5949014" y="2390422"/>
                </a:lnTo>
                <a:lnTo>
                  <a:pt x="0" y="239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0832" y="2807187"/>
            <a:ext cx="3618799" cy="4672626"/>
          </a:xfrm>
          <a:custGeom>
            <a:avLst/>
            <a:gdLst/>
            <a:ahLst/>
            <a:cxnLst/>
            <a:rect r="r" b="b" t="t" l="l"/>
            <a:pathLst>
              <a:path h="4672626" w="3618799">
                <a:moveTo>
                  <a:pt x="0" y="0"/>
                </a:moveTo>
                <a:lnTo>
                  <a:pt x="3618799" y="0"/>
                </a:lnTo>
                <a:lnTo>
                  <a:pt x="3618799" y="4672626"/>
                </a:lnTo>
                <a:lnTo>
                  <a:pt x="0" y="4672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4961" y="2463569"/>
            <a:ext cx="2368480" cy="1152179"/>
          </a:xfrm>
          <a:custGeom>
            <a:avLst/>
            <a:gdLst/>
            <a:ahLst/>
            <a:cxnLst/>
            <a:rect r="r" b="b" t="t" l="l"/>
            <a:pathLst>
              <a:path h="1152179" w="2368480">
                <a:moveTo>
                  <a:pt x="0" y="0"/>
                </a:moveTo>
                <a:lnTo>
                  <a:pt x="2368480" y="0"/>
                </a:lnTo>
                <a:lnTo>
                  <a:pt x="2368480" y="1152179"/>
                </a:lnTo>
                <a:lnTo>
                  <a:pt x="0" y="115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884" r="0" b="-2651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12991" y="7131081"/>
            <a:ext cx="920403" cy="920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5178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118589" y="6896711"/>
            <a:ext cx="1699666" cy="1699666"/>
          </a:xfrm>
          <a:custGeom>
            <a:avLst/>
            <a:gdLst/>
            <a:ahLst/>
            <a:cxnLst/>
            <a:rect r="r" b="b" t="t" l="l"/>
            <a:pathLst>
              <a:path h="1699666" w="1699666">
                <a:moveTo>
                  <a:pt x="0" y="0"/>
                </a:moveTo>
                <a:lnTo>
                  <a:pt x="1699666" y="0"/>
                </a:lnTo>
                <a:lnTo>
                  <a:pt x="1699666" y="1699666"/>
                </a:lnTo>
                <a:lnTo>
                  <a:pt x="0" y="1699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99631" y="4466377"/>
            <a:ext cx="593642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 spc="-151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</a:t>
            </a:r>
            <a:r>
              <a:rPr lang="en-US" b="true" sz="7599" spc="-151">
                <a:solidFill>
                  <a:srgbClr val="93D1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0223" y="5662612"/>
            <a:ext cx="52418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44F5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Evelia Gil Paredes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DAG2b7D6YUg</dc:identifier>
  <dcterms:modified xsi:type="dcterms:W3CDTF">2011-08-01T06:04:30Z</dcterms:modified>
  <cp:revision>1</cp:revision>
  <dc:title>cuidaDos</dc:title>
</cp:coreProperties>
</file>