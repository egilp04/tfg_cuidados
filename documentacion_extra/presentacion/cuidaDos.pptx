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Montserrat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Poppins" charset="1" panose="00000500000000000000"/>
      <p:regular r:id="rId18"/>
    </p:embeddedFont>
    <p:embeddedFont>
      <p:font typeface="Fraunces Bold" charset="1" panose="00000000000000000000"/>
      <p:regular r:id="rId19"/>
    </p:embeddedFont>
    <p:embeddedFont>
      <p:font typeface="Open Sans Bold" charset="1" panose="020B0806030504020204"/>
      <p:regular r:id="rId20"/>
    </p:embeddedFont>
    <p:embeddedFont>
      <p:font typeface="Poppins Bold" charset="1" panose="00000800000000000000"/>
      <p:regular r:id="rId21"/>
    </p:embeddedFont>
    <p:embeddedFont>
      <p:font typeface="Fraunces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22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238216" y="4665293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9" y="0"/>
                </a:lnTo>
                <a:lnTo>
                  <a:pt x="2773099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85626" y="2847670"/>
            <a:ext cx="4272335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72387" y="4210793"/>
            <a:ext cx="6060501" cy="4164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permisos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643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95908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00950" y="2803064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579096" y="2828329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7747710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150622" y="3655008"/>
            <a:ext cx="4475594" cy="5151030"/>
            <a:chOff x="0" y="0"/>
            <a:chExt cx="1178757" cy="13566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405030" y="4186108"/>
            <a:ext cx="4194209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USUARIOS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591018" y="2082056"/>
            <a:ext cx="11567554" cy="1713680"/>
            <a:chOff x="0" y="0"/>
            <a:chExt cx="1121219" cy="1661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1219" cy="166103"/>
            </a:xfrm>
            <a:custGeom>
              <a:avLst/>
              <a:gdLst/>
              <a:ahLst/>
              <a:cxnLst/>
              <a:rect r="r" b="b" t="t" l="l"/>
              <a:pathLst>
                <a:path h="166103" w="1121219">
                  <a:moveTo>
                    <a:pt x="918019" y="0"/>
                  </a:moveTo>
                  <a:lnTo>
                    <a:pt x="0" y="0"/>
                  </a:lnTo>
                  <a:lnTo>
                    <a:pt x="203200" y="166103"/>
                  </a:lnTo>
                  <a:lnTo>
                    <a:pt x="1121219" y="166103"/>
                  </a:lnTo>
                  <a:lnTo>
                    <a:pt x="918019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918019" cy="1851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453908" y="4640836"/>
            <a:ext cx="3873132" cy="4289649"/>
          </a:xfrm>
          <a:custGeom>
            <a:avLst/>
            <a:gdLst/>
            <a:ahLst/>
            <a:cxnLst/>
            <a:rect r="r" b="b" t="t" l="l"/>
            <a:pathLst>
              <a:path h="4289649" w="3873132">
                <a:moveTo>
                  <a:pt x="0" y="0"/>
                </a:moveTo>
                <a:lnTo>
                  <a:pt x="3873132" y="0"/>
                </a:lnTo>
                <a:lnTo>
                  <a:pt x="3873132" y="4289649"/>
                </a:lnTo>
                <a:lnTo>
                  <a:pt x="0" y="42896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143896" y="7700469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604811" y="143786"/>
            <a:ext cx="5874664" cy="9999428"/>
          </a:xfrm>
          <a:custGeom>
            <a:avLst/>
            <a:gdLst/>
            <a:ahLst/>
            <a:cxnLst/>
            <a:rect r="r" b="b" t="t" l="l"/>
            <a:pathLst>
              <a:path h="9999428" w="5874664">
                <a:moveTo>
                  <a:pt x="0" y="0"/>
                </a:moveTo>
                <a:lnTo>
                  <a:pt x="5874664" y="0"/>
                </a:lnTo>
                <a:lnTo>
                  <a:pt x="5874664" y="9999428"/>
                </a:lnTo>
                <a:lnTo>
                  <a:pt x="0" y="99994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85582" y="2502601"/>
            <a:ext cx="5252286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765" y="359104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1754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59664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869158" y="54278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570665" y="4603389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782564" y="3038086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976208" y="3153392"/>
            <a:ext cx="13558833" cy="6001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Negocio. Como evolución natural, se propone la integración de una pasarela de pagos segura (como Stripe o PayPal).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(WebRTC). Implementar un módulo de videollamadas integrado directamente en el chat de la aplicación.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Inteligente: el cliente describe el problema en lenguaje natural y la IA filtra la base de datos y le propone los 3 perfiles profesionales más adecuados.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Dar de alta a los usuarios de nuevo por los adnimistradores.</a:t>
            </a: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