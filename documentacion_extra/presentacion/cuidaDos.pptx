
<file path=[Content_Types].xml><?xml version="1.0" encoding="utf-8"?>
<Types xmlns="http://schemas.openxmlformats.org/package/2006/content-types">
  <Default ContentType="application/vnd.openxmlformats-officedocument.oleObject" Extension="bin"/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Montserrat Bold" charset="1" panose="00000800000000000000"/>
      <p:regular r:id="rId16"/>
    </p:embeddedFont>
    <p:embeddedFont>
      <p:font typeface="Montserrat" charset="1" panose="00000500000000000000"/>
      <p:regular r:id="rId17"/>
    </p:embeddedFont>
    <p:embeddedFont>
      <p:font typeface="Poppins" charset="1" panose="00000500000000000000"/>
      <p:regular r:id="rId18"/>
    </p:embeddedFont>
    <p:embeddedFont>
      <p:font typeface="Fraunces Bold" charset="1" panose="00000000000000000000"/>
      <p:regular r:id="rId19"/>
    </p:embeddedFont>
    <p:embeddedFont>
      <p:font typeface="Open Sans Bold" charset="1" panose="020B0806030504020204"/>
      <p:regular r:id="rId20"/>
    </p:embeddedFont>
    <p:embeddedFont>
      <p:font typeface="Poppins Bold" charset="1" panose="00000800000000000000"/>
      <p:regular r:id="rId21"/>
    </p:embeddedFont>
    <p:embeddedFont>
      <p:font typeface="Fraunces" charset="1" panose="0000000000000000000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9.png" Type="http://schemas.openxmlformats.org/officeDocument/2006/relationships/image"/><Relationship Id="rId7" Target="../media/image10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embeddings/oleObject1.bin" Type="http://schemas.openxmlformats.org/officeDocument/2006/relationships/oleObjec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svg" Type="http://schemas.openxmlformats.org/officeDocument/2006/relationships/image"/><Relationship Id="rId4" Target="../media/image14.png" Type="http://schemas.openxmlformats.org/officeDocument/2006/relationships/image"/><Relationship Id="rId5" Target="../media/image15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Relationship Id="rId3" Target="../media/image14.png" Type="http://schemas.openxmlformats.org/officeDocument/2006/relationships/image"/><Relationship Id="rId4" Target="../media/image17.png" Type="http://schemas.openxmlformats.org/officeDocument/2006/relationships/image"/><Relationship Id="rId5" Target="../media/image18.png" Type="http://schemas.openxmlformats.org/officeDocument/2006/relationships/image"/><Relationship Id="rId6" Target="../media/image19.png" Type="http://schemas.openxmlformats.org/officeDocument/2006/relationships/image"/><Relationship Id="rId7" Target="../media/image20.png" Type="http://schemas.openxmlformats.org/officeDocument/2006/relationships/image"/><Relationship Id="rId8" Target="../media/image21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2.png" Type="http://schemas.openxmlformats.org/officeDocument/2006/relationships/image"/><Relationship Id="rId3" Target="../media/image23.svg" Type="http://schemas.openxmlformats.org/officeDocument/2006/relationships/image"/><Relationship Id="rId4" Target="../media/image24.png" Type="http://schemas.openxmlformats.org/officeDocument/2006/relationships/image"/><Relationship Id="rId5" Target="../media/image25.svg" Type="http://schemas.openxmlformats.org/officeDocument/2006/relationships/image"/><Relationship Id="rId6" Target="../media/image26.png" Type="http://schemas.openxmlformats.org/officeDocument/2006/relationships/image"/><Relationship Id="rId7" Target="../media/image27.svg" Type="http://schemas.openxmlformats.org/officeDocument/2006/relationships/image"/><Relationship Id="rId8" Target="../media/image28.png" Type="http://schemas.openxmlformats.org/officeDocument/2006/relationships/image"/><Relationship Id="rId9" Target="../media/image29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30.png" Type="http://schemas.openxmlformats.org/officeDocument/2006/relationships/image"/><Relationship Id="rId4" Target="https://www.conectacuidados.eu" TargetMode="External" Type="http://schemas.openxmlformats.org/officeDocument/2006/relationships/hyperlink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31.png" Type="http://schemas.openxmlformats.org/officeDocument/2006/relationships/image"/><Relationship Id="rId7" Target="../media/image32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826496" y="2463569"/>
            <a:ext cx="11196945" cy="6310665"/>
            <a:chOff x="0" y="0"/>
            <a:chExt cx="2948990" cy="16620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48990" cy="1662068"/>
            </a:xfrm>
            <a:custGeom>
              <a:avLst/>
              <a:gdLst/>
              <a:ahLst/>
              <a:cxnLst/>
              <a:rect r="r" b="b" t="t" l="l"/>
              <a:pathLst>
                <a:path h="1662068" w="2948990">
                  <a:moveTo>
                    <a:pt x="0" y="0"/>
                  </a:moveTo>
                  <a:lnTo>
                    <a:pt x="2948990" y="0"/>
                  </a:lnTo>
                  <a:lnTo>
                    <a:pt x="2948990" y="1662068"/>
                  </a:lnTo>
                  <a:lnTo>
                    <a:pt x="0" y="166206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48990" cy="16811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4284793" y="8170984"/>
            <a:ext cx="5949014" cy="2390422"/>
          </a:xfrm>
          <a:custGeom>
            <a:avLst/>
            <a:gdLst/>
            <a:ahLst/>
            <a:cxnLst/>
            <a:rect r="r" b="b" t="t" l="l"/>
            <a:pathLst>
              <a:path h="2390422" w="5949014">
                <a:moveTo>
                  <a:pt x="0" y="0"/>
                </a:moveTo>
                <a:lnTo>
                  <a:pt x="5949014" y="0"/>
                </a:lnTo>
                <a:lnTo>
                  <a:pt x="5949014" y="2390422"/>
                </a:lnTo>
                <a:lnTo>
                  <a:pt x="0" y="239042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980832" y="2807187"/>
            <a:ext cx="3618799" cy="4672626"/>
          </a:xfrm>
          <a:custGeom>
            <a:avLst/>
            <a:gdLst/>
            <a:ahLst/>
            <a:cxnLst/>
            <a:rect r="r" b="b" t="t" l="l"/>
            <a:pathLst>
              <a:path h="4672626" w="3618799">
                <a:moveTo>
                  <a:pt x="0" y="0"/>
                </a:moveTo>
                <a:lnTo>
                  <a:pt x="3618799" y="0"/>
                </a:lnTo>
                <a:lnTo>
                  <a:pt x="3618799" y="4672626"/>
                </a:lnTo>
                <a:lnTo>
                  <a:pt x="0" y="467262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2654961" y="2463569"/>
            <a:ext cx="2368480" cy="1152179"/>
          </a:xfrm>
          <a:custGeom>
            <a:avLst/>
            <a:gdLst/>
            <a:ahLst/>
            <a:cxnLst/>
            <a:rect r="r" b="b" t="t" l="l"/>
            <a:pathLst>
              <a:path h="1152179" w="2368480">
                <a:moveTo>
                  <a:pt x="0" y="0"/>
                </a:moveTo>
                <a:lnTo>
                  <a:pt x="2368480" y="0"/>
                </a:lnTo>
                <a:lnTo>
                  <a:pt x="2368480" y="1152179"/>
                </a:lnTo>
                <a:lnTo>
                  <a:pt x="0" y="11521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25884" r="0" b="-26516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12024461" y="7288212"/>
            <a:ext cx="952251" cy="920403"/>
            <a:chOff x="0" y="0"/>
            <a:chExt cx="840925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40925" cy="812800"/>
            </a:xfrm>
            <a:custGeom>
              <a:avLst/>
              <a:gdLst/>
              <a:ahLst/>
              <a:cxnLst/>
              <a:rect r="r" b="b" t="t" l="l"/>
              <a:pathLst>
                <a:path h="812800" w="840925">
                  <a:moveTo>
                    <a:pt x="840925" y="406400"/>
                  </a:moveTo>
                  <a:lnTo>
                    <a:pt x="434525" y="0"/>
                  </a:lnTo>
                  <a:lnTo>
                    <a:pt x="434525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34525" y="609600"/>
                  </a:lnTo>
                  <a:lnTo>
                    <a:pt x="434525" y="812800"/>
                  </a:lnTo>
                  <a:lnTo>
                    <a:pt x="840925" y="406400"/>
                  </a:lnTo>
                  <a:close/>
                </a:path>
              </a:pathLst>
            </a:custGeom>
            <a:solidFill>
              <a:srgbClr val="51786E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184150"/>
              <a:ext cx="739325" cy="425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3118589" y="6896711"/>
            <a:ext cx="1699666" cy="1699666"/>
          </a:xfrm>
          <a:custGeom>
            <a:avLst/>
            <a:gdLst/>
            <a:ahLst/>
            <a:cxnLst/>
            <a:rect r="r" b="b" t="t" l="l"/>
            <a:pathLst>
              <a:path h="1699666" w="1699666">
                <a:moveTo>
                  <a:pt x="0" y="0"/>
                </a:moveTo>
                <a:lnTo>
                  <a:pt x="1699666" y="0"/>
                </a:lnTo>
                <a:lnTo>
                  <a:pt x="1699666" y="1699666"/>
                </a:lnTo>
                <a:lnTo>
                  <a:pt x="0" y="169966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7599631" y="4466377"/>
            <a:ext cx="5936428" cy="1152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119"/>
              </a:lnSpc>
            </a:pPr>
            <a:r>
              <a:rPr lang="en-US" b="true" sz="7599" spc="-151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CUIDA</a:t>
            </a:r>
            <a:r>
              <a:rPr lang="en-US" b="true" sz="7599" spc="-151">
                <a:solidFill>
                  <a:srgbClr val="93D14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946905" y="5662612"/>
            <a:ext cx="524188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b="true" sz="3000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Evelia Gil Paredes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806814" y="6243638"/>
            <a:ext cx="4381971" cy="1397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 b="true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IES Albarregas</a:t>
            </a:r>
          </a:p>
          <a:p>
            <a:pPr algn="l">
              <a:lnSpc>
                <a:spcPts val="2800"/>
              </a:lnSpc>
            </a:pPr>
            <a:r>
              <a:rPr lang="en-US" sz="2000" b="true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Técnico Superior en Desarrollo de Aplicaciones Web</a:t>
            </a:r>
          </a:p>
          <a:p>
            <a:pPr algn="l">
              <a:lnSpc>
                <a:spcPts val="2800"/>
              </a:lnSpc>
            </a:pPr>
            <a:r>
              <a:rPr lang="en-US" sz="2000" b="true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Curso: 25/26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826496" y="2463569"/>
            <a:ext cx="11196945" cy="6310665"/>
            <a:chOff x="0" y="0"/>
            <a:chExt cx="2948990" cy="16620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48990" cy="1662068"/>
            </a:xfrm>
            <a:custGeom>
              <a:avLst/>
              <a:gdLst/>
              <a:ahLst/>
              <a:cxnLst/>
              <a:rect r="r" b="b" t="t" l="l"/>
              <a:pathLst>
                <a:path h="1662068" w="2948990">
                  <a:moveTo>
                    <a:pt x="0" y="0"/>
                  </a:moveTo>
                  <a:lnTo>
                    <a:pt x="2948990" y="0"/>
                  </a:lnTo>
                  <a:lnTo>
                    <a:pt x="2948990" y="1662068"/>
                  </a:lnTo>
                  <a:lnTo>
                    <a:pt x="0" y="166206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48990" cy="16811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4238216" y="4665293"/>
            <a:ext cx="2773099" cy="3580649"/>
          </a:xfrm>
          <a:custGeom>
            <a:avLst/>
            <a:gdLst/>
            <a:ahLst/>
            <a:cxnLst/>
            <a:rect r="r" b="b" t="t" l="l"/>
            <a:pathLst>
              <a:path h="3580649" w="2773099">
                <a:moveTo>
                  <a:pt x="0" y="0"/>
                </a:moveTo>
                <a:lnTo>
                  <a:pt x="2773099" y="0"/>
                </a:lnTo>
                <a:lnTo>
                  <a:pt x="2773099" y="3580649"/>
                </a:lnTo>
                <a:lnTo>
                  <a:pt x="0" y="358064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7685626" y="2847670"/>
            <a:ext cx="4272335" cy="1152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119"/>
              </a:lnSpc>
            </a:pPr>
            <a:r>
              <a:rPr lang="en-US" b="true" sz="7599" spc="-151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ÍNDICE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272387" y="4210793"/>
            <a:ext cx="6060501" cy="41649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911114" indent="-455557" lvl="1">
              <a:lnSpc>
                <a:spcPts val="5486"/>
              </a:lnSpc>
              <a:buFont typeface="Arial"/>
              <a:buChar char="•"/>
            </a:pPr>
            <a:r>
              <a:rPr lang="en-US" b="true" sz="4220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Justificación</a:t>
            </a:r>
          </a:p>
          <a:p>
            <a:pPr algn="just" marL="911114" indent="-455557" lvl="1">
              <a:lnSpc>
                <a:spcPts val="5486"/>
              </a:lnSpc>
              <a:buFont typeface="Arial"/>
              <a:buChar char="•"/>
            </a:pPr>
            <a:r>
              <a:rPr lang="en-US" b="true" sz="4220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Roles y permisos</a:t>
            </a:r>
          </a:p>
          <a:p>
            <a:pPr algn="just" marL="911114" indent="-455557" lvl="1">
              <a:lnSpc>
                <a:spcPts val="5486"/>
              </a:lnSpc>
              <a:buFont typeface="Arial"/>
              <a:buChar char="•"/>
            </a:pPr>
            <a:r>
              <a:rPr lang="en-US" b="true" sz="4220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Base de datos</a:t>
            </a:r>
          </a:p>
          <a:p>
            <a:pPr algn="just" marL="911114" indent="-455557" lvl="1">
              <a:lnSpc>
                <a:spcPts val="5486"/>
              </a:lnSpc>
              <a:buFont typeface="Arial"/>
              <a:buChar char="•"/>
            </a:pPr>
            <a:r>
              <a:rPr lang="en-US" b="true" sz="4220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Stack tecnológico</a:t>
            </a:r>
          </a:p>
          <a:p>
            <a:pPr algn="just" marL="911114" indent="-455557" lvl="1">
              <a:lnSpc>
                <a:spcPts val="5486"/>
              </a:lnSpc>
              <a:buFont typeface="Arial"/>
              <a:buChar char="•"/>
            </a:pPr>
            <a:r>
              <a:rPr lang="en-US" b="true" sz="4220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Demo</a:t>
            </a:r>
          </a:p>
          <a:p>
            <a:pPr algn="just" marL="911114" indent="-455557" lvl="1">
              <a:lnSpc>
                <a:spcPts val="5486"/>
              </a:lnSpc>
              <a:buFont typeface="Arial"/>
              <a:buChar char="•"/>
            </a:pPr>
            <a:r>
              <a:rPr lang="en-US" b="true" sz="4220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Futuras mejoras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57312" y="1028700"/>
            <a:ext cx="15591759" cy="8229600"/>
            <a:chOff x="0" y="0"/>
            <a:chExt cx="4106471" cy="216746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106471" cy="2167467"/>
            </a:xfrm>
            <a:custGeom>
              <a:avLst/>
              <a:gdLst/>
              <a:ahLst/>
              <a:cxnLst/>
              <a:rect r="r" b="b" t="t" l="l"/>
              <a:pathLst>
                <a:path h="2167467" w="4106471">
                  <a:moveTo>
                    <a:pt x="12413" y="0"/>
                  </a:moveTo>
                  <a:lnTo>
                    <a:pt x="4094058" y="0"/>
                  </a:lnTo>
                  <a:cubicBezTo>
                    <a:pt x="4100914" y="0"/>
                    <a:pt x="4106471" y="5558"/>
                    <a:pt x="4106471" y="12413"/>
                  </a:cubicBezTo>
                  <a:lnTo>
                    <a:pt x="4106471" y="2155053"/>
                  </a:lnTo>
                  <a:cubicBezTo>
                    <a:pt x="4106471" y="2158346"/>
                    <a:pt x="4105164" y="2161503"/>
                    <a:pt x="4102836" y="2163831"/>
                  </a:cubicBezTo>
                  <a:cubicBezTo>
                    <a:pt x="4100507" y="2166159"/>
                    <a:pt x="4097350" y="2167467"/>
                    <a:pt x="4094058" y="2167467"/>
                  </a:cubicBezTo>
                  <a:lnTo>
                    <a:pt x="12413" y="2167467"/>
                  </a:lnTo>
                  <a:cubicBezTo>
                    <a:pt x="9121" y="2167467"/>
                    <a:pt x="5964" y="2166159"/>
                    <a:pt x="3636" y="2163831"/>
                  </a:cubicBezTo>
                  <a:cubicBezTo>
                    <a:pt x="1308" y="2161503"/>
                    <a:pt x="0" y="2158346"/>
                    <a:pt x="0" y="2155053"/>
                  </a:cubicBezTo>
                  <a:lnTo>
                    <a:pt x="0" y="12413"/>
                  </a:lnTo>
                  <a:cubicBezTo>
                    <a:pt x="0" y="9121"/>
                    <a:pt x="1308" y="5964"/>
                    <a:pt x="3636" y="3636"/>
                  </a:cubicBezTo>
                  <a:cubicBezTo>
                    <a:pt x="5964" y="1308"/>
                    <a:pt x="9121" y="0"/>
                    <a:pt x="12413" y="0"/>
                  </a:cubicBezTo>
                  <a:close/>
                </a:path>
              </a:pathLst>
            </a:custGeom>
            <a:solidFill>
              <a:srgbClr val="FFFFFF">
                <a:alpha val="86667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4106471" cy="21865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2226237" y="3655008"/>
            <a:ext cx="4475594" cy="5100938"/>
            <a:chOff x="0" y="0"/>
            <a:chExt cx="1178757" cy="134345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78757" cy="1343457"/>
            </a:xfrm>
            <a:custGeom>
              <a:avLst/>
              <a:gdLst/>
              <a:ahLst/>
              <a:cxnLst/>
              <a:rect r="r" b="b" t="t" l="l"/>
              <a:pathLst>
                <a:path h="1343457" w="1178757">
                  <a:moveTo>
                    <a:pt x="34596" y="0"/>
                  </a:moveTo>
                  <a:lnTo>
                    <a:pt x="1144161" y="0"/>
                  </a:lnTo>
                  <a:cubicBezTo>
                    <a:pt x="1153337" y="0"/>
                    <a:pt x="1162136" y="3645"/>
                    <a:pt x="1168624" y="10133"/>
                  </a:cubicBezTo>
                  <a:cubicBezTo>
                    <a:pt x="1175112" y="16621"/>
                    <a:pt x="1178757" y="25421"/>
                    <a:pt x="1178757" y="34596"/>
                  </a:cubicBezTo>
                  <a:lnTo>
                    <a:pt x="1178757" y="1308861"/>
                  </a:lnTo>
                  <a:cubicBezTo>
                    <a:pt x="1178757" y="1327968"/>
                    <a:pt x="1163268" y="1343457"/>
                    <a:pt x="1144161" y="1343457"/>
                  </a:cubicBezTo>
                  <a:lnTo>
                    <a:pt x="34596" y="1343457"/>
                  </a:lnTo>
                  <a:cubicBezTo>
                    <a:pt x="25421" y="1343457"/>
                    <a:pt x="16621" y="1339812"/>
                    <a:pt x="10133" y="1333324"/>
                  </a:cubicBezTo>
                  <a:cubicBezTo>
                    <a:pt x="3645" y="1326836"/>
                    <a:pt x="0" y="1318036"/>
                    <a:pt x="0" y="1308861"/>
                  </a:cubicBezTo>
                  <a:lnTo>
                    <a:pt x="0" y="34596"/>
                  </a:lnTo>
                  <a:cubicBezTo>
                    <a:pt x="0" y="25421"/>
                    <a:pt x="3645" y="16621"/>
                    <a:pt x="10133" y="10133"/>
                  </a:cubicBezTo>
                  <a:cubicBezTo>
                    <a:pt x="16621" y="3645"/>
                    <a:pt x="25421" y="0"/>
                    <a:pt x="34596" y="0"/>
                  </a:cubicBezTo>
                  <a:close/>
                </a:path>
              </a:pathLst>
            </a:custGeom>
            <a:ln w="571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1178757" cy="13625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3016234" y="2802626"/>
            <a:ext cx="3086100" cy="516103"/>
            <a:chOff x="0" y="0"/>
            <a:chExt cx="812800" cy="13592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135928"/>
            </a:xfrm>
            <a:custGeom>
              <a:avLst/>
              <a:gdLst/>
              <a:ahLst/>
              <a:cxnLst/>
              <a:rect r="r" b="b" t="t" l="l"/>
              <a:pathLst>
                <a:path h="135928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35928"/>
                  </a:lnTo>
                  <a:lnTo>
                    <a:pt x="0" y="135928"/>
                  </a:lnTo>
                  <a:close/>
                </a:path>
              </a:pathLst>
            </a:custGeom>
            <a:solidFill>
              <a:srgbClr val="344F51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812800" cy="1549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  <a:r>
                <a:rPr lang="en-US" sz="2199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QUÉ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7943029" y="2802626"/>
            <a:ext cx="3086100" cy="516103"/>
            <a:chOff x="0" y="0"/>
            <a:chExt cx="812800" cy="135928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135928"/>
            </a:xfrm>
            <a:custGeom>
              <a:avLst/>
              <a:gdLst/>
              <a:ahLst/>
              <a:cxnLst/>
              <a:rect r="r" b="b" t="t" l="l"/>
              <a:pathLst>
                <a:path h="135928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35928"/>
                  </a:lnTo>
                  <a:lnTo>
                    <a:pt x="0" y="135928"/>
                  </a:lnTo>
                  <a:close/>
                </a:path>
              </a:pathLst>
            </a:custGeom>
            <a:solidFill>
              <a:srgbClr val="344F51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812800" cy="1549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  <a:r>
                <a:rPr lang="en-US" sz="2199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PORQUÉ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2925937" y="2802626"/>
            <a:ext cx="3086100" cy="516103"/>
            <a:chOff x="0" y="0"/>
            <a:chExt cx="812800" cy="13592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135928"/>
            </a:xfrm>
            <a:custGeom>
              <a:avLst/>
              <a:gdLst/>
              <a:ahLst/>
              <a:cxnLst/>
              <a:rect r="r" b="b" t="t" l="l"/>
              <a:pathLst>
                <a:path h="135928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35928"/>
                  </a:lnTo>
                  <a:lnTo>
                    <a:pt x="0" y="135928"/>
                  </a:lnTo>
                  <a:close/>
                </a:path>
              </a:pathLst>
            </a:custGeom>
            <a:solidFill>
              <a:srgbClr val="344F51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19050"/>
              <a:ext cx="812800" cy="1549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  <a:r>
                <a:rPr lang="en-US" sz="2199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PARA QUÉ</a:t>
              </a: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12635867" y="4059812"/>
            <a:ext cx="3376170" cy="4579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sz="2049" spc="20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Facilitar la contratación de servicios a los usuarios que los necesiten. </a:t>
            </a:r>
          </a:p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sz="2049" spc="20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Solucionar los posibles conflictos facilitando la vida de los usuarios.</a:t>
            </a:r>
          </a:p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sz="2049" spc="20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Dar visibilidad a empresas más pequeñas.</a:t>
            </a:r>
          </a:p>
          <a:p>
            <a:pPr algn="l" marL="0" indent="0" lvl="0">
              <a:lnSpc>
                <a:spcPts val="2828"/>
              </a:lnSpc>
              <a:spcBef>
                <a:spcPct val="0"/>
              </a:spcBef>
            </a:pPr>
          </a:p>
        </p:txBody>
      </p:sp>
      <p:sp>
        <p:nvSpPr>
          <p:cNvPr name="TextBox 18" id="18"/>
          <p:cNvSpPr txBox="true"/>
          <p:nvPr/>
        </p:nvSpPr>
        <p:spPr>
          <a:xfrm rot="0">
            <a:off x="7912044" y="4059812"/>
            <a:ext cx="3281419" cy="39363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3"/>
              </a:lnSpc>
            </a:pPr>
            <a:r>
              <a:rPr lang="en-US" sz="2082" spc="204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Cada vez son más las personas que necesitan contratar distintos servicios. </a:t>
            </a:r>
          </a:p>
          <a:p>
            <a:pPr algn="l" marL="0" indent="0" lvl="0">
              <a:lnSpc>
                <a:spcPts val="2873"/>
              </a:lnSpc>
              <a:spcBef>
                <a:spcPct val="0"/>
              </a:spcBef>
            </a:pPr>
            <a:r>
              <a:rPr lang="en-US" sz="2082" spc="204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El objetivo es que los usuarios con un solo click puedan escoger la empresa y el servicio que más se adapte a sus necesidades.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2178667" y="3623212"/>
            <a:ext cx="4475594" cy="5164530"/>
            <a:chOff x="0" y="0"/>
            <a:chExt cx="1178757" cy="1360205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178757" cy="1360205"/>
            </a:xfrm>
            <a:custGeom>
              <a:avLst/>
              <a:gdLst/>
              <a:ahLst/>
              <a:cxnLst/>
              <a:rect r="r" b="b" t="t" l="l"/>
              <a:pathLst>
                <a:path h="1360205" w="1178757">
                  <a:moveTo>
                    <a:pt x="34596" y="0"/>
                  </a:moveTo>
                  <a:lnTo>
                    <a:pt x="1144161" y="0"/>
                  </a:lnTo>
                  <a:cubicBezTo>
                    <a:pt x="1153337" y="0"/>
                    <a:pt x="1162136" y="3645"/>
                    <a:pt x="1168624" y="10133"/>
                  </a:cubicBezTo>
                  <a:cubicBezTo>
                    <a:pt x="1175112" y="16621"/>
                    <a:pt x="1178757" y="25421"/>
                    <a:pt x="1178757" y="34596"/>
                  </a:cubicBezTo>
                  <a:lnTo>
                    <a:pt x="1178757" y="1325609"/>
                  </a:lnTo>
                  <a:cubicBezTo>
                    <a:pt x="1178757" y="1344716"/>
                    <a:pt x="1163268" y="1360205"/>
                    <a:pt x="1144161" y="1360205"/>
                  </a:cubicBezTo>
                  <a:lnTo>
                    <a:pt x="34596" y="1360205"/>
                  </a:lnTo>
                  <a:cubicBezTo>
                    <a:pt x="25421" y="1360205"/>
                    <a:pt x="16621" y="1356561"/>
                    <a:pt x="10133" y="1350072"/>
                  </a:cubicBezTo>
                  <a:cubicBezTo>
                    <a:pt x="3645" y="1343584"/>
                    <a:pt x="0" y="1334785"/>
                    <a:pt x="0" y="1325609"/>
                  </a:cubicBezTo>
                  <a:lnTo>
                    <a:pt x="0" y="34596"/>
                  </a:lnTo>
                  <a:cubicBezTo>
                    <a:pt x="0" y="25421"/>
                    <a:pt x="3645" y="16621"/>
                    <a:pt x="10133" y="10133"/>
                  </a:cubicBezTo>
                  <a:cubicBezTo>
                    <a:pt x="16621" y="3645"/>
                    <a:pt x="25421" y="0"/>
                    <a:pt x="34596" y="0"/>
                  </a:cubicBezTo>
                  <a:close/>
                </a:path>
              </a:pathLst>
            </a:custGeom>
            <a:ln w="571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19050"/>
              <a:ext cx="1178757" cy="13792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3690980" y="1329960"/>
            <a:ext cx="10906040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b="true" sz="4745" spc="37">
                <a:solidFill>
                  <a:srgbClr val="344F51"/>
                </a:solidFill>
                <a:latin typeface="Fraunces Bold"/>
                <a:ea typeface="Fraunces Bold"/>
                <a:cs typeface="Fraunces Bold"/>
                <a:sym typeface="Fraunces Bold"/>
              </a:rPr>
              <a:t>JUSTIFICACIÓN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2508537" y="4059812"/>
            <a:ext cx="3987194" cy="36837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58"/>
              </a:lnSpc>
              <a:spcBef>
                <a:spcPct val="0"/>
              </a:spcBef>
            </a:pPr>
            <a:r>
              <a:rPr lang="en-US" sz="2143" spc="21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Sitio web en el que se pueda realizar la contratación, por parte de los usuarios, de servicios ofrecidos por distintas empresas destinados al cuidado de personas mayores y/o personas que necesitan ayuda.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1.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7328002" y="3655008"/>
            <a:ext cx="4475594" cy="5151030"/>
            <a:chOff x="0" y="0"/>
            <a:chExt cx="1178757" cy="135665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178757" cy="1356650"/>
            </a:xfrm>
            <a:custGeom>
              <a:avLst/>
              <a:gdLst/>
              <a:ahLst/>
              <a:cxnLst/>
              <a:rect r="r" b="b" t="t" l="l"/>
              <a:pathLst>
                <a:path h="1356650" w="1178757">
                  <a:moveTo>
                    <a:pt x="34596" y="0"/>
                  </a:moveTo>
                  <a:lnTo>
                    <a:pt x="1144161" y="0"/>
                  </a:lnTo>
                  <a:cubicBezTo>
                    <a:pt x="1153337" y="0"/>
                    <a:pt x="1162136" y="3645"/>
                    <a:pt x="1168624" y="10133"/>
                  </a:cubicBezTo>
                  <a:cubicBezTo>
                    <a:pt x="1175112" y="16621"/>
                    <a:pt x="1178757" y="25421"/>
                    <a:pt x="1178757" y="34596"/>
                  </a:cubicBezTo>
                  <a:lnTo>
                    <a:pt x="1178757" y="1322054"/>
                  </a:lnTo>
                  <a:cubicBezTo>
                    <a:pt x="1178757" y="1341161"/>
                    <a:pt x="1163268" y="1356650"/>
                    <a:pt x="1144161" y="1356650"/>
                  </a:cubicBezTo>
                  <a:lnTo>
                    <a:pt x="34596" y="1356650"/>
                  </a:lnTo>
                  <a:cubicBezTo>
                    <a:pt x="25421" y="1356650"/>
                    <a:pt x="16621" y="1353005"/>
                    <a:pt x="10133" y="1346517"/>
                  </a:cubicBezTo>
                  <a:cubicBezTo>
                    <a:pt x="3645" y="1340029"/>
                    <a:pt x="0" y="1331229"/>
                    <a:pt x="0" y="1322054"/>
                  </a:cubicBezTo>
                  <a:lnTo>
                    <a:pt x="0" y="34596"/>
                  </a:lnTo>
                  <a:cubicBezTo>
                    <a:pt x="0" y="25421"/>
                    <a:pt x="3645" y="16621"/>
                    <a:pt x="10133" y="10133"/>
                  </a:cubicBezTo>
                  <a:cubicBezTo>
                    <a:pt x="16621" y="3645"/>
                    <a:pt x="25421" y="0"/>
                    <a:pt x="34596" y="0"/>
                  </a:cubicBezTo>
                  <a:close/>
                </a:path>
              </a:pathLst>
            </a:custGeom>
            <a:ln w="571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7" id="27"/>
            <p:cNvSpPr txBox="true"/>
            <p:nvPr/>
          </p:nvSpPr>
          <p:spPr>
            <a:xfrm>
              <a:off x="0" y="-47625"/>
              <a:ext cx="1178757" cy="14042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00"/>
                </a:lnSpc>
              </a:pP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5208853" y="424928"/>
            <a:ext cx="19354610" cy="1639695"/>
            <a:chOff x="0" y="0"/>
            <a:chExt cx="1876002" cy="15893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76002" cy="158932"/>
            </a:xfrm>
            <a:custGeom>
              <a:avLst/>
              <a:gdLst/>
              <a:ahLst/>
              <a:cxnLst/>
              <a:rect r="r" b="b" t="t" l="l"/>
              <a:pathLst>
                <a:path h="158932" w="1876002">
                  <a:moveTo>
                    <a:pt x="1672802" y="0"/>
                  </a:moveTo>
                  <a:lnTo>
                    <a:pt x="0" y="0"/>
                  </a:lnTo>
                  <a:lnTo>
                    <a:pt x="203200" y="158932"/>
                  </a:lnTo>
                  <a:lnTo>
                    <a:pt x="1876002" y="158932"/>
                  </a:lnTo>
                  <a:lnTo>
                    <a:pt x="1672802" y="0"/>
                  </a:lnTo>
                  <a:close/>
                </a:path>
              </a:pathLst>
            </a:custGeom>
            <a:solidFill>
              <a:srgbClr val="EEEAE9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1672802" cy="1779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028700" y="3407406"/>
            <a:ext cx="2667835" cy="810936"/>
            <a:chOff x="0" y="0"/>
            <a:chExt cx="620299" cy="18855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20299" cy="188551"/>
            </a:xfrm>
            <a:custGeom>
              <a:avLst/>
              <a:gdLst/>
              <a:ahLst/>
              <a:cxnLst/>
              <a:rect r="r" b="b" t="t" l="l"/>
              <a:pathLst>
                <a:path h="188551" w="620299">
                  <a:moveTo>
                    <a:pt x="23216" y="0"/>
                  </a:moveTo>
                  <a:lnTo>
                    <a:pt x="597084" y="0"/>
                  </a:lnTo>
                  <a:cubicBezTo>
                    <a:pt x="609905" y="0"/>
                    <a:pt x="620299" y="10394"/>
                    <a:pt x="620299" y="23216"/>
                  </a:cubicBezTo>
                  <a:lnTo>
                    <a:pt x="620299" y="165335"/>
                  </a:lnTo>
                  <a:cubicBezTo>
                    <a:pt x="620299" y="178157"/>
                    <a:pt x="609905" y="188551"/>
                    <a:pt x="597084" y="188551"/>
                  </a:cubicBezTo>
                  <a:lnTo>
                    <a:pt x="23216" y="188551"/>
                  </a:lnTo>
                  <a:cubicBezTo>
                    <a:pt x="10394" y="188551"/>
                    <a:pt x="0" y="178157"/>
                    <a:pt x="0" y="165335"/>
                  </a:cubicBezTo>
                  <a:lnTo>
                    <a:pt x="0" y="23216"/>
                  </a:lnTo>
                  <a:cubicBezTo>
                    <a:pt x="0" y="10394"/>
                    <a:pt x="10394" y="0"/>
                    <a:pt x="23216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76200"/>
              <a:ext cx="620299" cy="26475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CLIENTE</a:t>
              </a: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498128" y="4911527"/>
            <a:ext cx="3887759" cy="3328894"/>
          </a:xfrm>
          <a:custGeom>
            <a:avLst/>
            <a:gdLst/>
            <a:ahLst/>
            <a:cxnLst/>
            <a:rect r="r" b="b" t="t" l="l"/>
            <a:pathLst>
              <a:path h="3328894" w="3887759">
                <a:moveTo>
                  <a:pt x="0" y="0"/>
                </a:moveTo>
                <a:lnTo>
                  <a:pt x="3887759" y="0"/>
                </a:lnTo>
                <a:lnTo>
                  <a:pt x="3887759" y="3328893"/>
                </a:lnTo>
                <a:lnTo>
                  <a:pt x="0" y="33288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658038" y="808479"/>
            <a:ext cx="9308329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sz="4745" spc="37">
                <a:solidFill>
                  <a:srgbClr val="51786E"/>
                </a:solidFill>
                <a:latin typeface="Fraunces"/>
                <a:ea typeface="Fraunces"/>
                <a:cs typeface="Fraunces"/>
                <a:sym typeface="Fraunces"/>
              </a:rPr>
              <a:t>ROLES Y PERMISOS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7358876" y="3407406"/>
            <a:ext cx="2385400" cy="810936"/>
            <a:chOff x="0" y="0"/>
            <a:chExt cx="554630" cy="18855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54630" cy="188551"/>
            </a:xfrm>
            <a:custGeom>
              <a:avLst/>
              <a:gdLst/>
              <a:ahLst/>
              <a:cxnLst/>
              <a:rect r="r" b="b" t="t" l="l"/>
              <a:pathLst>
                <a:path h="188551" w="554630">
                  <a:moveTo>
                    <a:pt x="25964" y="0"/>
                  </a:moveTo>
                  <a:lnTo>
                    <a:pt x="528666" y="0"/>
                  </a:lnTo>
                  <a:cubicBezTo>
                    <a:pt x="535552" y="0"/>
                    <a:pt x="542156" y="2736"/>
                    <a:pt x="547026" y="7605"/>
                  </a:cubicBezTo>
                  <a:cubicBezTo>
                    <a:pt x="551895" y="12474"/>
                    <a:pt x="554630" y="19078"/>
                    <a:pt x="554630" y="25964"/>
                  </a:cubicBezTo>
                  <a:lnTo>
                    <a:pt x="554630" y="162587"/>
                  </a:lnTo>
                  <a:cubicBezTo>
                    <a:pt x="554630" y="176926"/>
                    <a:pt x="543006" y="188551"/>
                    <a:pt x="528666" y="188551"/>
                  </a:cubicBezTo>
                  <a:lnTo>
                    <a:pt x="25964" y="188551"/>
                  </a:lnTo>
                  <a:cubicBezTo>
                    <a:pt x="11625" y="188551"/>
                    <a:pt x="0" y="176926"/>
                    <a:pt x="0" y="162587"/>
                  </a:cubicBezTo>
                  <a:lnTo>
                    <a:pt x="0" y="25964"/>
                  </a:lnTo>
                  <a:cubicBezTo>
                    <a:pt x="0" y="11625"/>
                    <a:pt x="11625" y="0"/>
                    <a:pt x="25964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76200"/>
              <a:ext cx="554630" cy="26475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EMPRESA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3406616" y="3407406"/>
            <a:ext cx="2667835" cy="810936"/>
            <a:chOff x="0" y="0"/>
            <a:chExt cx="620299" cy="188551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20299" cy="188551"/>
            </a:xfrm>
            <a:custGeom>
              <a:avLst/>
              <a:gdLst/>
              <a:ahLst/>
              <a:cxnLst/>
              <a:rect r="r" b="b" t="t" l="l"/>
              <a:pathLst>
                <a:path h="188551" w="620299">
                  <a:moveTo>
                    <a:pt x="23216" y="0"/>
                  </a:moveTo>
                  <a:lnTo>
                    <a:pt x="597084" y="0"/>
                  </a:lnTo>
                  <a:cubicBezTo>
                    <a:pt x="609905" y="0"/>
                    <a:pt x="620299" y="10394"/>
                    <a:pt x="620299" y="23216"/>
                  </a:cubicBezTo>
                  <a:lnTo>
                    <a:pt x="620299" y="165335"/>
                  </a:lnTo>
                  <a:cubicBezTo>
                    <a:pt x="620299" y="178157"/>
                    <a:pt x="609905" y="188551"/>
                    <a:pt x="597084" y="188551"/>
                  </a:cubicBezTo>
                  <a:lnTo>
                    <a:pt x="23216" y="188551"/>
                  </a:lnTo>
                  <a:cubicBezTo>
                    <a:pt x="10394" y="188551"/>
                    <a:pt x="0" y="178157"/>
                    <a:pt x="0" y="165335"/>
                  </a:cubicBezTo>
                  <a:lnTo>
                    <a:pt x="0" y="23216"/>
                  </a:lnTo>
                  <a:cubicBezTo>
                    <a:pt x="0" y="10394"/>
                    <a:pt x="10394" y="0"/>
                    <a:pt x="23216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76200"/>
              <a:ext cx="620299" cy="26475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ADMIN</a:t>
              </a: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13811142" y="5146355"/>
            <a:ext cx="1858783" cy="2750241"/>
          </a:xfrm>
          <a:custGeom>
            <a:avLst/>
            <a:gdLst/>
            <a:ahLst/>
            <a:cxnLst/>
            <a:rect r="r" b="b" t="t" l="l"/>
            <a:pathLst>
              <a:path h="2750241" w="1858783">
                <a:moveTo>
                  <a:pt x="0" y="0"/>
                </a:moveTo>
                <a:lnTo>
                  <a:pt x="1858783" y="0"/>
                </a:lnTo>
                <a:lnTo>
                  <a:pt x="1858783" y="2750241"/>
                </a:lnTo>
                <a:lnTo>
                  <a:pt x="0" y="275024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7086581" y="5066851"/>
            <a:ext cx="2829745" cy="2829745"/>
          </a:xfrm>
          <a:custGeom>
            <a:avLst/>
            <a:gdLst/>
            <a:ahLst/>
            <a:cxnLst/>
            <a:rect r="r" b="b" t="t" l="l"/>
            <a:pathLst>
              <a:path h="2829745" w="2829745">
                <a:moveTo>
                  <a:pt x="0" y="0"/>
                </a:moveTo>
                <a:lnTo>
                  <a:pt x="2829745" y="0"/>
                </a:lnTo>
                <a:lnTo>
                  <a:pt x="2829745" y="2829745"/>
                </a:lnTo>
                <a:lnTo>
                  <a:pt x="0" y="282974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Object 2" id="2"/>
          <p:cNvGraphicFramePr/>
          <p:nvPr/>
        </p:nvGraphicFramePr>
        <p:xfrm>
          <a:off x="1028700" y="645282"/>
          <a:ext cx="11291915" cy="8229600"/>
        </p:xfrm>
        <a:graphic>
          <a:graphicData uri="http://schemas.openxmlformats.org/presentationml/2006/ole">
            <p:oleObj imgW="13550900" imgH="10477500" r:id="rId3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3" id="3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3.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2785357" y="538989"/>
            <a:ext cx="7162260" cy="1961344"/>
            <a:chOff x="0" y="0"/>
            <a:chExt cx="1012764" cy="2773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12764" cy="277340"/>
            </a:xfrm>
            <a:custGeom>
              <a:avLst/>
              <a:gdLst/>
              <a:ahLst/>
              <a:cxnLst/>
              <a:rect r="r" b="b" t="t" l="l"/>
              <a:pathLst>
                <a:path h="277340" w="1012764">
                  <a:moveTo>
                    <a:pt x="809564" y="0"/>
                  </a:moveTo>
                  <a:lnTo>
                    <a:pt x="0" y="0"/>
                  </a:lnTo>
                  <a:lnTo>
                    <a:pt x="203200" y="277340"/>
                  </a:lnTo>
                  <a:lnTo>
                    <a:pt x="1012764" y="277340"/>
                  </a:lnTo>
                  <a:lnTo>
                    <a:pt x="809564" y="0"/>
                  </a:lnTo>
                  <a:close/>
                </a:path>
              </a:pathLst>
            </a:custGeom>
            <a:solidFill>
              <a:srgbClr val="EEEAE9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809564" cy="2963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878202" y="4555916"/>
            <a:ext cx="2340497" cy="2592195"/>
          </a:xfrm>
          <a:custGeom>
            <a:avLst/>
            <a:gdLst/>
            <a:ahLst/>
            <a:cxnLst/>
            <a:rect r="r" b="b" t="t" l="l"/>
            <a:pathLst>
              <a:path h="2592195" w="2340497">
                <a:moveTo>
                  <a:pt x="0" y="0"/>
                </a:moveTo>
                <a:lnTo>
                  <a:pt x="2340498" y="0"/>
                </a:lnTo>
                <a:lnTo>
                  <a:pt x="2340498" y="2592195"/>
                </a:lnTo>
                <a:lnTo>
                  <a:pt x="0" y="259219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2048451" y="6513095"/>
            <a:ext cx="1510002" cy="1557831"/>
          </a:xfrm>
          <a:custGeom>
            <a:avLst/>
            <a:gdLst/>
            <a:ahLst/>
            <a:cxnLst/>
            <a:rect r="r" b="b" t="t" l="l"/>
            <a:pathLst>
              <a:path h="1557831" w="1510002">
                <a:moveTo>
                  <a:pt x="0" y="0"/>
                </a:moveTo>
                <a:lnTo>
                  <a:pt x="1510002" y="0"/>
                </a:lnTo>
                <a:lnTo>
                  <a:pt x="1510002" y="1557831"/>
                </a:lnTo>
                <a:lnTo>
                  <a:pt x="0" y="155783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4556940" y="256829"/>
            <a:ext cx="12978186" cy="9620080"/>
          </a:xfrm>
          <a:custGeom>
            <a:avLst/>
            <a:gdLst/>
            <a:ahLst/>
            <a:cxnLst/>
            <a:rect r="r" b="b" t="t" l="l"/>
            <a:pathLst>
              <a:path h="9620080" w="12978186">
                <a:moveTo>
                  <a:pt x="0" y="0"/>
                </a:moveTo>
                <a:lnTo>
                  <a:pt x="12978186" y="0"/>
                </a:lnTo>
                <a:lnTo>
                  <a:pt x="12978186" y="9620080"/>
                </a:lnTo>
                <a:lnTo>
                  <a:pt x="0" y="96200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4.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12517" y="918729"/>
            <a:ext cx="2690935" cy="11447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598"/>
              </a:lnSpc>
              <a:spcBef>
                <a:spcPct val="0"/>
              </a:spcBef>
            </a:pPr>
            <a:r>
              <a:rPr lang="en-US" sz="3332" spc="26">
                <a:solidFill>
                  <a:srgbClr val="51786E"/>
                </a:solidFill>
                <a:latin typeface="Fraunces"/>
                <a:ea typeface="Fraunces"/>
                <a:cs typeface="Fraunces"/>
                <a:sym typeface="Fraunces"/>
              </a:rPr>
              <a:t>BASE DE DATOS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5113308" y="823034"/>
            <a:ext cx="19354610" cy="1461811"/>
            <a:chOff x="0" y="0"/>
            <a:chExt cx="1876002" cy="14169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76002" cy="141690"/>
            </a:xfrm>
            <a:custGeom>
              <a:avLst/>
              <a:gdLst/>
              <a:ahLst/>
              <a:cxnLst/>
              <a:rect r="r" b="b" t="t" l="l"/>
              <a:pathLst>
                <a:path h="141690" w="1876002">
                  <a:moveTo>
                    <a:pt x="1672802" y="0"/>
                  </a:moveTo>
                  <a:lnTo>
                    <a:pt x="0" y="0"/>
                  </a:lnTo>
                  <a:lnTo>
                    <a:pt x="203200" y="141690"/>
                  </a:lnTo>
                  <a:lnTo>
                    <a:pt x="1876002" y="141690"/>
                  </a:lnTo>
                  <a:lnTo>
                    <a:pt x="1672802" y="0"/>
                  </a:lnTo>
                  <a:close/>
                </a:path>
              </a:pathLst>
            </a:custGeom>
            <a:solidFill>
              <a:srgbClr val="EEEAE9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1672802" cy="1607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35116" y="3466122"/>
            <a:ext cx="5008014" cy="859690"/>
            <a:chOff x="0" y="0"/>
            <a:chExt cx="1164415" cy="19988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64415" cy="199887"/>
            </a:xfrm>
            <a:custGeom>
              <a:avLst/>
              <a:gdLst/>
              <a:ahLst/>
              <a:cxnLst/>
              <a:rect r="r" b="b" t="t" l="l"/>
              <a:pathLst>
                <a:path h="199887" w="1164415">
                  <a:moveTo>
                    <a:pt x="12367" y="0"/>
                  </a:moveTo>
                  <a:lnTo>
                    <a:pt x="1152048" y="0"/>
                  </a:lnTo>
                  <a:cubicBezTo>
                    <a:pt x="1158878" y="0"/>
                    <a:pt x="1164415" y="5537"/>
                    <a:pt x="1164415" y="12367"/>
                  </a:cubicBezTo>
                  <a:lnTo>
                    <a:pt x="1164415" y="187520"/>
                  </a:lnTo>
                  <a:cubicBezTo>
                    <a:pt x="1164415" y="190800"/>
                    <a:pt x="1163112" y="193945"/>
                    <a:pt x="1160793" y="196265"/>
                  </a:cubicBezTo>
                  <a:cubicBezTo>
                    <a:pt x="1158474" y="198584"/>
                    <a:pt x="1155328" y="199887"/>
                    <a:pt x="1152048" y="199887"/>
                  </a:cubicBezTo>
                  <a:lnTo>
                    <a:pt x="12367" y="199887"/>
                  </a:lnTo>
                  <a:cubicBezTo>
                    <a:pt x="5537" y="199887"/>
                    <a:pt x="0" y="194350"/>
                    <a:pt x="0" y="187520"/>
                  </a:cubicBezTo>
                  <a:lnTo>
                    <a:pt x="0" y="12367"/>
                  </a:lnTo>
                  <a:cubicBezTo>
                    <a:pt x="0" y="5537"/>
                    <a:pt x="5537" y="0"/>
                    <a:pt x="12367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76200"/>
              <a:ext cx="1164415" cy="276087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 APLICACIÓN CLIENTE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6240627" y="3466122"/>
            <a:ext cx="5964636" cy="859690"/>
            <a:chOff x="0" y="0"/>
            <a:chExt cx="1386840" cy="19988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86840" cy="199887"/>
            </a:xfrm>
            <a:custGeom>
              <a:avLst/>
              <a:gdLst/>
              <a:ahLst/>
              <a:cxnLst/>
              <a:rect r="r" b="b" t="t" l="l"/>
              <a:pathLst>
                <a:path h="199887" w="1386840">
                  <a:moveTo>
                    <a:pt x="10384" y="0"/>
                  </a:moveTo>
                  <a:lnTo>
                    <a:pt x="1376456" y="0"/>
                  </a:lnTo>
                  <a:cubicBezTo>
                    <a:pt x="1379210" y="0"/>
                    <a:pt x="1381851" y="1094"/>
                    <a:pt x="1383799" y="3041"/>
                  </a:cubicBezTo>
                  <a:cubicBezTo>
                    <a:pt x="1385746" y="4989"/>
                    <a:pt x="1386840" y="7630"/>
                    <a:pt x="1386840" y="10384"/>
                  </a:cubicBezTo>
                  <a:lnTo>
                    <a:pt x="1386840" y="189503"/>
                  </a:lnTo>
                  <a:cubicBezTo>
                    <a:pt x="1386840" y="192257"/>
                    <a:pt x="1385746" y="194898"/>
                    <a:pt x="1383799" y="196846"/>
                  </a:cubicBezTo>
                  <a:cubicBezTo>
                    <a:pt x="1381851" y="198793"/>
                    <a:pt x="1379210" y="199887"/>
                    <a:pt x="1376456" y="199887"/>
                  </a:cubicBezTo>
                  <a:lnTo>
                    <a:pt x="10384" y="199887"/>
                  </a:lnTo>
                  <a:cubicBezTo>
                    <a:pt x="7630" y="199887"/>
                    <a:pt x="4989" y="198793"/>
                    <a:pt x="3041" y="196846"/>
                  </a:cubicBezTo>
                  <a:cubicBezTo>
                    <a:pt x="1094" y="194898"/>
                    <a:pt x="0" y="192257"/>
                    <a:pt x="0" y="189503"/>
                  </a:cubicBezTo>
                  <a:lnTo>
                    <a:pt x="0" y="10384"/>
                  </a:lnTo>
                  <a:cubicBezTo>
                    <a:pt x="0" y="7630"/>
                    <a:pt x="1094" y="4989"/>
                    <a:pt x="3041" y="3041"/>
                  </a:cubicBezTo>
                  <a:cubicBezTo>
                    <a:pt x="4989" y="1094"/>
                    <a:pt x="7630" y="0"/>
                    <a:pt x="10384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76200"/>
              <a:ext cx="1386840" cy="276087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SERVICIOS EN LA NUBE (BaaS)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3147110" y="3466122"/>
            <a:ext cx="4778411" cy="859690"/>
            <a:chOff x="0" y="0"/>
            <a:chExt cx="1111030" cy="19988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11030" cy="199887"/>
            </a:xfrm>
            <a:custGeom>
              <a:avLst/>
              <a:gdLst/>
              <a:ahLst/>
              <a:cxnLst/>
              <a:rect r="r" b="b" t="t" l="l"/>
              <a:pathLst>
                <a:path h="199887" w="1111030">
                  <a:moveTo>
                    <a:pt x="12961" y="0"/>
                  </a:moveTo>
                  <a:lnTo>
                    <a:pt x="1098069" y="0"/>
                  </a:lnTo>
                  <a:cubicBezTo>
                    <a:pt x="1105227" y="0"/>
                    <a:pt x="1111030" y="5803"/>
                    <a:pt x="1111030" y="12961"/>
                  </a:cubicBezTo>
                  <a:lnTo>
                    <a:pt x="1111030" y="186925"/>
                  </a:lnTo>
                  <a:cubicBezTo>
                    <a:pt x="1111030" y="190363"/>
                    <a:pt x="1109664" y="193660"/>
                    <a:pt x="1107234" y="196091"/>
                  </a:cubicBezTo>
                  <a:cubicBezTo>
                    <a:pt x="1104803" y="198521"/>
                    <a:pt x="1101506" y="199887"/>
                    <a:pt x="1098069" y="199887"/>
                  </a:cubicBezTo>
                  <a:lnTo>
                    <a:pt x="12961" y="199887"/>
                  </a:lnTo>
                  <a:cubicBezTo>
                    <a:pt x="9524" y="199887"/>
                    <a:pt x="6227" y="198521"/>
                    <a:pt x="3796" y="196091"/>
                  </a:cubicBezTo>
                  <a:cubicBezTo>
                    <a:pt x="1366" y="193660"/>
                    <a:pt x="0" y="190363"/>
                    <a:pt x="0" y="186925"/>
                  </a:cubicBezTo>
                  <a:lnTo>
                    <a:pt x="0" y="12961"/>
                  </a:lnTo>
                  <a:cubicBezTo>
                    <a:pt x="0" y="9524"/>
                    <a:pt x="1366" y="6227"/>
                    <a:pt x="3796" y="3796"/>
                  </a:cubicBezTo>
                  <a:cubicBezTo>
                    <a:pt x="6227" y="1366"/>
                    <a:pt x="9524" y="0"/>
                    <a:pt x="12961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76200"/>
              <a:ext cx="1111030" cy="276087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CI/CD &amp; PRODUCCIÓN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290765" y="5143500"/>
            <a:ext cx="5052366" cy="4114800"/>
            <a:chOff x="0" y="0"/>
            <a:chExt cx="1174727" cy="956734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174728" cy="956734"/>
            </a:xfrm>
            <a:custGeom>
              <a:avLst/>
              <a:gdLst/>
              <a:ahLst/>
              <a:cxnLst/>
              <a:rect r="r" b="b" t="t" l="l"/>
              <a:pathLst>
                <a:path h="956734" w="1174728">
                  <a:moveTo>
                    <a:pt x="12259" y="0"/>
                  </a:moveTo>
                  <a:lnTo>
                    <a:pt x="1162469" y="0"/>
                  </a:lnTo>
                  <a:cubicBezTo>
                    <a:pt x="1165720" y="0"/>
                    <a:pt x="1168838" y="1292"/>
                    <a:pt x="1171137" y="3590"/>
                  </a:cubicBezTo>
                  <a:cubicBezTo>
                    <a:pt x="1173436" y="5889"/>
                    <a:pt x="1174728" y="9007"/>
                    <a:pt x="1174728" y="12259"/>
                  </a:cubicBezTo>
                  <a:lnTo>
                    <a:pt x="1174728" y="944475"/>
                  </a:lnTo>
                  <a:cubicBezTo>
                    <a:pt x="1174728" y="951245"/>
                    <a:pt x="1169239" y="956734"/>
                    <a:pt x="1162469" y="956734"/>
                  </a:cubicBezTo>
                  <a:lnTo>
                    <a:pt x="12259" y="956734"/>
                  </a:lnTo>
                  <a:cubicBezTo>
                    <a:pt x="9007" y="956734"/>
                    <a:pt x="5889" y="955442"/>
                    <a:pt x="3590" y="953143"/>
                  </a:cubicBezTo>
                  <a:cubicBezTo>
                    <a:pt x="1292" y="950844"/>
                    <a:pt x="0" y="947726"/>
                    <a:pt x="0" y="944475"/>
                  </a:cubicBezTo>
                  <a:lnTo>
                    <a:pt x="0" y="12259"/>
                  </a:lnTo>
                  <a:cubicBezTo>
                    <a:pt x="0" y="9007"/>
                    <a:pt x="1292" y="5889"/>
                    <a:pt x="3590" y="3590"/>
                  </a:cubicBezTo>
                  <a:cubicBezTo>
                    <a:pt x="5889" y="1292"/>
                    <a:pt x="9007" y="0"/>
                    <a:pt x="12259" y="0"/>
                  </a:cubicBezTo>
                  <a:close/>
                </a:path>
              </a:pathLst>
            </a:custGeom>
            <a:solidFill>
              <a:srgbClr val="EEEAE9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76200"/>
              <a:ext cx="1174727" cy="1032934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460334" y="5303959"/>
            <a:ext cx="1896941" cy="1896941"/>
          </a:xfrm>
          <a:custGeom>
            <a:avLst/>
            <a:gdLst/>
            <a:ahLst/>
            <a:cxnLst/>
            <a:rect r="r" b="b" t="t" l="l"/>
            <a:pathLst>
              <a:path h="1896941" w="1896941">
                <a:moveTo>
                  <a:pt x="0" y="0"/>
                </a:moveTo>
                <a:lnTo>
                  <a:pt x="1896940" y="0"/>
                </a:lnTo>
                <a:lnTo>
                  <a:pt x="1896940" y="1896941"/>
                </a:lnTo>
                <a:lnTo>
                  <a:pt x="0" y="189694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18" id="18"/>
          <p:cNvGrpSpPr/>
          <p:nvPr/>
        </p:nvGrpSpPr>
        <p:grpSpPr>
          <a:xfrm rot="0">
            <a:off x="6464693" y="5143500"/>
            <a:ext cx="5741697" cy="4114800"/>
            <a:chOff x="0" y="0"/>
            <a:chExt cx="1335004" cy="956734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335004" cy="956734"/>
            </a:xfrm>
            <a:custGeom>
              <a:avLst/>
              <a:gdLst/>
              <a:ahLst/>
              <a:cxnLst/>
              <a:rect r="r" b="b" t="t" l="l"/>
              <a:pathLst>
                <a:path h="956734" w="1335004">
                  <a:moveTo>
                    <a:pt x="10787" y="0"/>
                  </a:moveTo>
                  <a:lnTo>
                    <a:pt x="1324217" y="0"/>
                  </a:lnTo>
                  <a:cubicBezTo>
                    <a:pt x="1327078" y="0"/>
                    <a:pt x="1329822" y="1136"/>
                    <a:pt x="1331845" y="3159"/>
                  </a:cubicBezTo>
                  <a:cubicBezTo>
                    <a:pt x="1333868" y="5182"/>
                    <a:pt x="1335004" y="7926"/>
                    <a:pt x="1335004" y="10787"/>
                  </a:cubicBezTo>
                  <a:lnTo>
                    <a:pt x="1335004" y="945947"/>
                  </a:lnTo>
                  <a:cubicBezTo>
                    <a:pt x="1335004" y="951904"/>
                    <a:pt x="1330175" y="956734"/>
                    <a:pt x="1324217" y="956734"/>
                  </a:cubicBezTo>
                  <a:lnTo>
                    <a:pt x="10787" y="956734"/>
                  </a:lnTo>
                  <a:cubicBezTo>
                    <a:pt x="7926" y="956734"/>
                    <a:pt x="5182" y="955597"/>
                    <a:pt x="3159" y="953574"/>
                  </a:cubicBezTo>
                  <a:cubicBezTo>
                    <a:pt x="1136" y="951551"/>
                    <a:pt x="0" y="948808"/>
                    <a:pt x="0" y="945947"/>
                  </a:cubicBezTo>
                  <a:lnTo>
                    <a:pt x="0" y="10787"/>
                  </a:lnTo>
                  <a:cubicBezTo>
                    <a:pt x="0" y="7926"/>
                    <a:pt x="1136" y="5182"/>
                    <a:pt x="3159" y="3159"/>
                  </a:cubicBezTo>
                  <a:cubicBezTo>
                    <a:pt x="5182" y="1136"/>
                    <a:pt x="7926" y="0"/>
                    <a:pt x="10787" y="0"/>
                  </a:cubicBezTo>
                  <a:close/>
                </a:path>
              </a:pathLst>
            </a:custGeom>
            <a:solidFill>
              <a:srgbClr val="EEEAE9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76200"/>
              <a:ext cx="1335004" cy="1032934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1" id="21"/>
          <p:cNvSpPr/>
          <p:nvPr/>
        </p:nvSpPr>
        <p:spPr>
          <a:xfrm flipH="false" flipV="false" rot="0">
            <a:off x="7152242" y="6132173"/>
            <a:ext cx="2071830" cy="2137454"/>
          </a:xfrm>
          <a:custGeom>
            <a:avLst/>
            <a:gdLst/>
            <a:ahLst/>
            <a:cxnLst/>
            <a:rect r="r" b="b" t="t" l="l"/>
            <a:pathLst>
              <a:path h="2137454" w="2071830">
                <a:moveTo>
                  <a:pt x="0" y="0"/>
                </a:moveTo>
                <a:lnTo>
                  <a:pt x="2071830" y="0"/>
                </a:lnTo>
                <a:lnTo>
                  <a:pt x="2071830" y="2137454"/>
                </a:lnTo>
                <a:lnTo>
                  <a:pt x="0" y="21374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9538397" y="5969473"/>
            <a:ext cx="2300154" cy="2300154"/>
          </a:xfrm>
          <a:custGeom>
            <a:avLst/>
            <a:gdLst/>
            <a:ahLst/>
            <a:cxnLst/>
            <a:rect r="r" b="b" t="t" l="l"/>
            <a:pathLst>
              <a:path h="2300154" w="2300154">
                <a:moveTo>
                  <a:pt x="0" y="0"/>
                </a:moveTo>
                <a:lnTo>
                  <a:pt x="2300154" y="0"/>
                </a:lnTo>
                <a:lnTo>
                  <a:pt x="2300154" y="2300154"/>
                </a:lnTo>
                <a:lnTo>
                  <a:pt x="0" y="23001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23" id="23"/>
          <p:cNvGrpSpPr/>
          <p:nvPr/>
        </p:nvGrpSpPr>
        <p:grpSpPr>
          <a:xfrm rot="0">
            <a:off x="13147110" y="5062150"/>
            <a:ext cx="4778411" cy="4114800"/>
            <a:chOff x="0" y="0"/>
            <a:chExt cx="1111030" cy="95673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11030" cy="956734"/>
            </a:xfrm>
            <a:custGeom>
              <a:avLst/>
              <a:gdLst/>
              <a:ahLst/>
              <a:cxnLst/>
              <a:rect r="r" b="b" t="t" l="l"/>
              <a:pathLst>
                <a:path h="956734" w="1111030">
                  <a:moveTo>
                    <a:pt x="12961" y="0"/>
                  </a:moveTo>
                  <a:lnTo>
                    <a:pt x="1098069" y="0"/>
                  </a:lnTo>
                  <a:cubicBezTo>
                    <a:pt x="1105227" y="0"/>
                    <a:pt x="1111030" y="5803"/>
                    <a:pt x="1111030" y="12961"/>
                  </a:cubicBezTo>
                  <a:lnTo>
                    <a:pt x="1111030" y="943772"/>
                  </a:lnTo>
                  <a:cubicBezTo>
                    <a:pt x="1111030" y="947210"/>
                    <a:pt x="1109664" y="950507"/>
                    <a:pt x="1107234" y="952937"/>
                  </a:cubicBezTo>
                  <a:cubicBezTo>
                    <a:pt x="1104803" y="955368"/>
                    <a:pt x="1101506" y="956734"/>
                    <a:pt x="1098069" y="956734"/>
                  </a:cubicBezTo>
                  <a:lnTo>
                    <a:pt x="12961" y="956734"/>
                  </a:lnTo>
                  <a:cubicBezTo>
                    <a:pt x="9524" y="956734"/>
                    <a:pt x="6227" y="955368"/>
                    <a:pt x="3796" y="952937"/>
                  </a:cubicBezTo>
                  <a:cubicBezTo>
                    <a:pt x="1366" y="950507"/>
                    <a:pt x="0" y="947210"/>
                    <a:pt x="0" y="943772"/>
                  </a:cubicBezTo>
                  <a:lnTo>
                    <a:pt x="0" y="12961"/>
                  </a:lnTo>
                  <a:cubicBezTo>
                    <a:pt x="0" y="9524"/>
                    <a:pt x="1366" y="6227"/>
                    <a:pt x="3796" y="3796"/>
                  </a:cubicBezTo>
                  <a:cubicBezTo>
                    <a:pt x="6227" y="1366"/>
                    <a:pt x="9524" y="0"/>
                    <a:pt x="12961" y="0"/>
                  </a:cubicBezTo>
                  <a:close/>
                </a:path>
              </a:pathLst>
            </a:custGeom>
            <a:solidFill>
              <a:srgbClr val="EEEAE9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76200"/>
              <a:ext cx="1111030" cy="1032934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6" id="26"/>
          <p:cNvSpPr/>
          <p:nvPr/>
        </p:nvSpPr>
        <p:spPr>
          <a:xfrm flipH="false" flipV="false" rot="0">
            <a:off x="13292160" y="5317149"/>
            <a:ext cx="4388901" cy="1623893"/>
          </a:xfrm>
          <a:custGeom>
            <a:avLst/>
            <a:gdLst/>
            <a:ahLst/>
            <a:cxnLst/>
            <a:rect r="r" b="b" t="t" l="l"/>
            <a:pathLst>
              <a:path h="1623893" w="4388901">
                <a:moveTo>
                  <a:pt x="0" y="0"/>
                </a:moveTo>
                <a:lnTo>
                  <a:pt x="4388901" y="0"/>
                </a:lnTo>
                <a:lnTo>
                  <a:pt x="4388901" y="1623893"/>
                </a:lnTo>
                <a:lnTo>
                  <a:pt x="0" y="16238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13568872" y="7220355"/>
            <a:ext cx="4112190" cy="1956595"/>
          </a:xfrm>
          <a:custGeom>
            <a:avLst/>
            <a:gdLst/>
            <a:ahLst/>
            <a:cxnLst/>
            <a:rect r="r" b="b" t="t" l="l"/>
            <a:pathLst>
              <a:path h="1956595" w="4112190">
                <a:moveTo>
                  <a:pt x="0" y="0"/>
                </a:moveTo>
                <a:lnTo>
                  <a:pt x="4112189" y="0"/>
                </a:lnTo>
                <a:lnTo>
                  <a:pt x="4112189" y="1956595"/>
                </a:lnTo>
                <a:lnTo>
                  <a:pt x="0" y="19565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-18339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721964" y="7609486"/>
            <a:ext cx="2156896" cy="1320282"/>
          </a:xfrm>
          <a:custGeom>
            <a:avLst/>
            <a:gdLst/>
            <a:ahLst/>
            <a:cxnLst/>
            <a:rect r="r" b="b" t="t" l="l"/>
            <a:pathLst>
              <a:path h="1320282" w="2156896">
                <a:moveTo>
                  <a:pt x="0" y="0"/>
                </a:moveTo>
                <a:lnTo>
                  <a:pt x="2156896" y="0"/>
                </a:lnTo>
                <a:lnTo>
                  <a:pt x="2156896" y="1320282"/>
                </a:lnTo>
                <a:lnTo>
                  <a:pt x="0" y="132028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3196508" y="5756930"/>
            <a:ext cx="1660848" cy="1660848"/>
          </a:xfrm>
          <a:custGeom>
            <a:avLst/>
            <a:gdLst/>
            <a:ahLst/>
            <a:cxnLst/>
            <a:rect r="r" b="b" t="t" l="l"/>
            <a:pathLst>
              <a:path h="1660848" w="1660848">
                <a:moveTo>
                  <a:pt x="0" y="0"/>
                </a:moveTo>
                <a:lnTo>
                  <a:pt x="1660848" y="0"/>
                </a:lnTo>
                <a:lnTo>
                  <a:pt x="1660848" y="1660847"/>
                </a:lnTo>
                <a:lnTo>
                  <a:pt x="0" y="166084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grpSp>
        <p:nvGrpSpPr>
          <p:cNvPr name="Group 30" id="30"/>
          <p:cNvGrpSpPr/>
          <p:nvPr/>
        </p:nvGrpSpPr>
        <p:grpSpPr>
          <a:xfrm rot="0">
            <a:off x="5469189" y="6661244"/>
            <a:ext cx="869445" cy="539656"/>
            <a:chOff x="0" y="0"/>
            <a:chExt cx="736600" cy="4572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736600" cy="457200"/>
            </a:xfrm>
            <a:custGeom>
              <a:avLst/>
              <a:gdLst/>
              <a:ahLst/>
              <a:cxnLst/>
              <a:rect r="r" b="b" t="t" l="l"/>
              <a:pathLst>
                <a:path h="457200" w="736600">
                  <a:moveTo>
                    <a:pt x="736600" y="228606"/>
                  </a:moveTo>
                  <a:lnTo>
                    <a:pt x="476634" y="457200"/>
                  </a:lnTo>
                  <a:lnTo>
                    <a:pt x="492392" y="332453"/>
                  </a:lnTo>
                  <a:lnTo>
                    <a:pt x="244208" y="332453"/>
                  </a:lnTo>
                  <a:lnTo>
                    <a:pt x="259966" y="457200"/>
                  </a:lnTo>
                  <a:lnTo>
                    <a:pt x="0" y="228606"/>
                  </a:lnTo>
                  <a:lnTo>
                    <a:pt x="259966" y="0"/>
                  </a:lnTo>
                  <a:lnTo>
                    <a:pt x="244196" y="124785"/>
                  </a:lnTo>
                  <a:lnTo>
                    <a:pt x="492404" y="124785"/>
                  </a:lnTo>
                  <a:lnTo>
                    <a:pt x="476634" y="0"/>
                  </a:lnTo>
                  <a:lnTo>
                    <a:pt x="736600" y="228606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32" id="32"/>
            <p:cNvSpPr txBox="true"/>
            <p:nvPr/>
          </p:nvSpPr>
          <p:spPr>
            <a:xfrm>
              <a:off x="114300" y="107950"/>
              <a:ext cx="508000" cy="2222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33" id="33"/>
          <p:cNvGrpSpPr/>
          <p:nvPr/>
        </p:nvGrpSpPr>
        <p:grpSpPr>
          <a:xfrm rot="-10800000">
            <a:off x="12314970" y="6661244"/>
            <a:ext cx="723560" cy="595873"/>
            <a:chOff x="0" y="0"/>
            <a:chExt cx="647700" cy="5334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647700" cy="533400"/>
            </a:xfrm>
            <a:custGeom>
              <a:avLst/>
              <a:gdLst/>
              <a:ahLst/>
              <a:cxnLst/>
              <a:rect r="r" b="b" t="t" l="l"/>
              <a:pathLst>
                <a:path h="533400" w="647700">
                  <a:moveTo>
                    <a:pt x="239386" y="166418"/>
                  </a:moveTo>
                  <a:lnTo>
                    <a:pt x="647700" y="166418"/>
                  </a:lnTo>
                  <a:lnTo>
                    <a:pt x="647700" y="366942"/>
                  </a:lnTo>
                  <a:lnTo>
                    <a:pt x="239373" y="366942"/>
                  </a:lnTo>
                  <a:lnTo>
                    <a:pt x="302255" y="533400"/>
                  </a:lnTo>
                  <a:lnTo>
                    <a:pt x="0" y="266700"/>
                  </a:lnTo>
                  <a:lnTo>
                    <a:pt x="302255" y="0"/>
                  </a:lnTo>
                  <a:lnTo>
                    <a:pt x="239386" y="166418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120650" y="146050"/>
              <a:ext cx="527050" cy="2222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1587589" y="1117644"/>
            <a:ext cx="9308329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sz="4745" spc="37">
                <a:solidFill>
                  <a:srgbClr val="51786E"/>
                </a:solidFill>
                <a:latin typeface="Fraunces"/>
                <a:ea typeface="Fraunces"/>
                <a:cs typeface="Fraunces"/>
                <a:sym typeface="Fraunces"/>
              </a:rPr>
              <a:t>TECNOLOGÍAS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2227072" y="6376255"/>
            <a:ext cx="899357" cy="2721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33"/>
              </a:lnSpc>
            </a:pPr>
            <a:r>
              <a:rPr lang="en-US" b="true" sz="738">
                <a:solidFill>
                  <a:srgbClr val="93D14B"/>
                </a:solidFill>
                <a:latin typeface="Poppins Bold"/>
                <a:ea typeface="Poppins Bold"/>
                <a:cs typeface="Poppins Bold"/>
                <a:sym typeface="Poppins Bold"/>
              </a:rPr>
              <a:t>Integración Continua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5459664" y="6376255"/>
            <a:ext cx="899357" cy="2721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33"/>
              </a:lnSpc>
            </a:pPr>
            <a:r>
              <a:rPr lang="en-US" b="true" sz="738">
                <a:solidFill>
                  <a:srgbClr val="93D14B"/>
                </a:solidFill>
                <a:latin typeface="Poppins Bold"/>
                <a:ea typeface="Poppins Bold"/>
                <a:cs typeface="Poppins Bold"/>
                <a:sym typeface="Poppins Bold"/>
              </a:rPr>
              <a:t>REST API &amp; Tiempo Real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5.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57312" y="1028700"/>
            <a:ext cx="15591759" cy="8229600"/>
            <a:chOff x="0" y="0"/>
            <a:chExt cx="4106471" cy="216746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106471" cy="2167467"/>
            </a:xfrm>
            <a:custGeom>
              <a:avLst/>
              <a:gdLst/>
              <a:ahLst/>
              <a:cxnLst/>
              <a:rect r="r" b="b" t="t" l="l"/>
              <a:pathLst>
                <a:path h="2167467" w="4106471">
                  <a:moveTo>
                    <a:pt x="12413" y="0"/>
                  </a:moveTo>
                  <a:lnTo>
                    <a:pt x="4094058" y="0"/>
                  </a:lnTo>
                  <a:cubicBezTo>
                    <a:pt x="4100914" y="0"/>
                    <a:pt x="4106471" y="5558"/>
                    <a:pt x="4106471" y="12413"/>
                  </a:cubicBezTo>
                  <a:lnTo>
                    <a:pt x="4106471" y="2155053"/>
                  </a:lnTo>
                  <a:cubicBezTo>
                    <a:pt x="4106471" y="2158346"/>
                    <a:pt x="4105164" y="2161503"/>
                    <a:pt x="4102836" y="2163831"/>
                  </a:cubicBezTo>
                  <a:cubicBezTo>
                    <a:pt x="4100507" y="2166159"/>
                    <a:pt x="4097350" y="2167467"/>
                    <a:pt x="4094058" y="2167467"/>
                  </a:cubicBezTo>
                  <a:lnTo>
                    <a:pt x="12413" y="2167467"/>
                  </a:lnTo>
                  <a:cubicBezTo>
                    <a:pt x="9121" y="2167467"/>
                    <a:pt x="5964" y="2166159"/>
                    <a:pt x="3636" y="2163831"/>
                  </a:cubicBezTo>
                  <a:cubicBezTo>
                    <a:pt x="1308" y="2161503"/>
                    <a:pt x="0" y="2158346"/>
                    <a:pt x="0" y="2155053"/>
                  </a:cubicBezTo>
                  <a:lnTo>
                    <a:pt x="0" y="12413"/>
                  </a:lnTo>
                  <a:cubicBezTo>
                    <a:pt x="0" y="9121"/>
                    <a:pt x="1308" y="5964"/>
                    <a:pt x="3636" y="3636"/>
                  </a:cubicBezTo>
                  <a:cubicBezTo>
                    <a:pt x="5964" y="1308"/>
                    <a:pt x="9121" y="0"/>
                    <a:pt x="12413" y="0"/>
                  </a:cubicBezTo>
                  <a:close/>
                </a:path>
              </a:pathLst>
            </a:custGeom>
            <a:solidFill>
              <a:srgbClr val="FFFFFF">
                <a:alpha val="86667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4106471" cy="21865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2314384" y="3331871"/>
            <a:ext cx="1516533" cy="1254586"/>
          </a:xfrm>
          <a:custGeom>
            <a:avLst/>
            <a:gdLst/>
            <a:ahLst/>
            <a:cxnLst/>
            <a:rect r="r" b="b" t="t" l="l"/>
            <a:pathLst>
              <a:path h="1254586" w="1516533">
                <a:moveTo>
                  <a:pt x="0" y="0"/>
                </a:moveTo>
                <a:lnTo>
                  <a:pt x="1516533" y="0"/>
                </a:lnTo>
                <a:lnTo>
                  <a:pt x="1516533" y="1254586"/>
                </a:lnTo>
                <a:lnTo>
                  <a:pt x="0" y="125458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6177532" y="3179204"/>
            <a:ext cx="1150967" cy="1559919"/>
          </a:xfrm>
          <a:custGeom>
            <a:avLst/>
            <a:gdLst/>
            <a:ahLst/>
            <a:cxnLst/>
            <a:rect r="r" b="b" t="t" l="l"/>
            <a:pathLst>
              <a:path h="1559919" w="1150967">
                <a:moveTo>
                  <a:pt x="0" y="0"/>
                </a:moveTo>
                <a:lnTo>
                  <a:pt x="1150967" y="0"/>
                </a:lnTo>
                <a:lnTo>
                  <a:pt x="1150967" y="1559919"/>
                </a:lnTo>
                <a:lnTo>
                  <a:pt x="0" y="15599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9283937" y="3498338"/>
            <a:ext cx="1635151" cy="1088119"/>
          </a:xfrm>
          <a:custGeom>
            <a:avLst/>
            <a:gdLst/>
            <a:ahLst/>
            <a:cxnLst/>
            <a:rect r="r" b="b" t="t" l="l"/>
            <a:pathLst>
              <a:path h="1088119" w="1635151">
                <a:moveTo>
                  <a:pt x="0" y="0"/>
                </a:moveTo>
                <a:lnTo>
                  <a:pt x="1635151" y="0"/>
                </a:lnTo>
                <a:lnTo>
                  <a:pt x="1635151" y="1088119"/>
                </a:lnTo>
                <a:lnTo>
                  <a:pt x="0" y="108811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3781727" y="3498338"/>
            <a:ext cx="1433886" cy="1420851"/>
          </a:xfrm>
          <a:custGeom>
            <a:avLst/>
            <a:gdLst/>
            <a:ahLst/>
            <a:cxnLst/>
            <a:rect r="r" b="b" t="t" l="l"/>
            <a:pathLst>
              <a:path h="1420851" w="1433886">
                <a:moveTo>
                  <a:pt x="0" y="0"/>
                </a:moveTo>
                <a:lnTo>
                  <a:pt x="1433886" y="0"/>
                </a:lnTo>
                <a:lnTo>
                  <a:pt x="1433886" y="1420851"/>
                </a:lnTo>
                <a:lnTo>
                  <a:pt x="0" y="142085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2801467" y="5320148"/>
            <a:ext cx="3924664" cy="30495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07"/>
              </a:lnSpc>
            </a:pPr>
            <a:r>
              <a:rPr lang="en-US" sz="1599" spc="156" b="true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Expansión del Módulo de Inteligencia Artificial. Matchmaking Inteligente: el cliente describe el problema en lenguaje natural y la IA filtra la base de datos y le propone los 3 perfiles profesionales más adecuados.</a:t>
            </a:r>
          </a:p>
          <a:p>
            <a:pPr algn="l">
              <a:lnSpc>
                <a:spcPts val="2207"/>
              </a:lnSpc>
            </a:pPr>
          </a:p>
          <a:p>
            <a:pPr algn="l">
              <a:lnSpc>
                <a:spcPts val="2207"/>
              </a:lnSpc>
            </a:pPr>
          </a:p>
          <a:p>
            <a:pPr algn="l" marL="0" indent="0" lvl="0">
              <a:lnSpc>
                <a:spcPts val="2207"/>
              </a:lnSpc>
              <a:spcBef>
                <a:spcPct val="0"/>
              </a:spcBef>
            </a:pPr>
          </a:p>
        </p:txBody>
      </p:sp>
      <p:sp>
        <p:nvSpPr>
          <p:cNvPr name="TextBox 10" id="10"/>
          <p:cNvSpPr txBox="true"/>
          <p:nvPr/>
        </p:nvSpPr>
        <p:spPr>
          <a:xfrm rot="0">
            <a:off x="3830917" y="1754882"/>
            <a:ext cx="10906040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b="true" sz="4745" spc="37">
                <a:solidFill>
                  <a:srgbClr val="51786E"/>
                </a:solidFill>
                <a:latin typeface="Fraunces Bold"/>
                <a:ea typeface="Fraunces Bold"/>
                <a:cs typeface="Fraunces Bold"/>
                <a:sym typeface="Fraunces Bold"/>
              </a:rPr>
              <a:t>FUTURAS MEJORAS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6</a:t>
            </a: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778673" y="5320148"/>
            <a:ext cx="2970137" cy="36019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08"/>
              </a:lnSpc>
            </a:pPr>
            <a:r>
              <a:rPr lang="en-US" sz="1600" spc="156" b="true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Integración de Pasarela de Pago y Modelo de Negocio. Como evolución natural, se propone la integración de una pasarela de pagos segura (como Stripe o PayPal).</a:t>
            </a:r>
          </a:p>
          <a:p>
            <a:pPr algn="l">
              <a:lnSpc>
                <a:spcPts val="2208"/>
              </a:lnSpc>
            </a:pPr>
          </a:p>
          <a:p>
            <a:pPr algn="l">
              <a:lnSpc>
                <a:spcPts val="2208"/>
              </a:lnSpc>
            </a:pPr>
          </a:p>
          <a:p>
            <a:pPr algn="l">
              <a:lnSpc>
                <a:spcPts val="2208"/>
              </a:lnSpc>
            </a:pPr>
          </a:p>
          <a:p>
            <a:pPr algn="l">
              <a:lnSpc>
                <a:spcPts val="2208"/>
              </a:lnSpc>
            </a:pPr>
          </a:p>
          <a:p>
            <a:pPr algn="l" marL="0" indent="0" lvl="0">
              <a:lnSpc>
                <a:spcPts val="2208"/>
              </a:lnSpc>
              <a:spcBef>
                <a:spcPct val="0"/>
              </a:spcBef>
            </a:pPr>
          </a:p>
        </p:txBody>
      </p:sp>
      <p:sp>
        <p:nvSpPr>
          <p:cNvPr name="TextBox 13" id="13"/>
          <p:cNvSpPr txBox="true"/>
          <p:nvPr/>
        </p:nvSpPr>
        <p:spPr>
          <a:xfrm rot="0">
            <a:off x="5307758" y="5329673"/>
            <a:ext cx="3209001" cy="3361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7"/>
              </a:lnSpc>
            </a:pPr>
            <a:r>
              <a:rPr lang="en-US" sz="1628" spc="159" b="true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Sistema de Valoraciones, de forma que los usuarios podrán leer las reseñas de otros clientes, facilitando la toma de decisión de contratación.</a:t>
            </a:r>
          </a:p>
          <a:p>
            <a:pPr algn="l">
              <a:lnSpc>
                <a:spcPts val="2247"/>
              </a:lnSpc>
            </a:pPr>
          </a:p>
          <a:p>
            <a:pPr algn="l">
              <a:lnSpc>
                <a:spcPts val="2247"/>
              </a:lnSpc>
            </a:pPr>
          </a:p>
          <a:p>
            <a:pPr algn="l">
              <a:lnSpc>
                <a:spcPts val="2247"/>
              </a:lnSpc>
            </a:pPr>
          </a:p>
          <a:p>
            <a:pPr algn="l">
              <a:lnSpc>
                <a:spcPts val="2247"/>
              </a:lnSpc>
            </a:pPr>
          </a:p>
          <a:p>
            <a:pPr algn="l" marL="0" indent="0" lvl="0">
              <a:lnSpc>
                <a:spcPts val="2247"/>
              </a:lnSpc>
              <a:spcBef>
                <a:spcPct val="0"/>
              </a:spcBef>
            </a:pPr>
          </a:p>
        </p:txBody>
      </p:sp>
      <p:sp>
        <p:nvSpPr>
          <p:cNvPr name="TextBox 14" id="14"/>
          <p:cNvSpPr txBox="true"/>
          <p:nvPr/>
        </p:nvSpPr>
        <p:spPr>
          <a:xfrm rot="0">
            <a:off x="8948066" y="5320148"/>
            <a:ext cx="3654880" cy="27732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07"/>
              </a:lnSpc>
            </a:pPr>
            <a:r>
              <a:rPr lang="en-US" sz="1599" spc="156" b="true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Entrevistas por Videollamada (WebRTC). Implementar un módulo de videollamadas integrado directamente en el chat de la aplicación.</a:t>
            </a:r>
          </a:p>
          <a:p>
            <a:pPr algn="l">
              <a:lnSpc>
                <a:spcPts val="2207"/>
              </a:lnSpc>
            </a:pPr>
          </a:p>
          <a:p>
            <a:pPr algn="l">
              <a:lnSpc>
                <a:spcPts val="2207"/>
              </a:lnSpc>
            </a:pPr>
          </a:p>
          <a:p>
            <a:pPr algn="l">
              <a:lnSpc>
                <a:spcPts val="2207"/>
              </a:lnSpc>
            </a:pPr>
          </a:p>
          <a:p>
            <a:pPr algn="l" marL="0" indent="0" lvl="0">
              <a:lnSpc>
                <a:spcPts val="2207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826496" y="2463569"/>
            <a:ext cx="11196945" cy="6310665"/>
            <a:chOff x="0" y="0"/>
            <a:chExt cx="2948990" cy="16620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48990" cy="1662068"/>
            </a:xfrm>
            <a:custGeom>
              <a:avLst/>
              <a:gdLst/>
              <a:ahLst/>
              <a:cxnLst/>
              <a:rect r="r" b="b" t="t" l="l"/>
              <a:pathLst>
                <a:path h="1662068" w="2948990">
                  <a:moveTo>
                    <a:pt x="0" y="0"/>
                  </a:moveTo>
                  <a:lnTo>
                    <a:pt x="2948990" y="0"/>
                  </a:lnTo>
                  <a:lnTo>
                    <a:pt x="2948990" y="1662068"/>
                  </a:lnTo>
                  <a:lnTo>
                    <a:pt x="0" y="166206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48990" cy="16811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1869158" y="5427811"/>
            <a:ext cx="1699666" cy="1699666"/>
          </a:xfrm>
          <a:custGeom>
            <a:avLst/>
            <a:gdLst/>
            <a:ahLst/>
            <a:cxnLst/>
            <a:rect r="r" b="b" t="t" l="l"/>
            <a:pathLst>
              <a:path h="1699666" w="1699666">
                <a:moveTo>
                  <a:pt x="0" y="0"/>
                </a:moveTo>
                <a:lnTo>
                  <a:pt x="1699666" y="0"/>
                </a:lnTo>
                <a:lnTo>
                  <a:pt x="1699666" y="1699666"/>
                </a:lnTo>
                <a:lnTo>
                  <a:pt x="0" y="16996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>
            <a:hlinkClick r:id="rId4" tooltip="https://www.conectacuidados.eu"/>
          </p:cNvPr>
          <p:cNvSpPr/>
          <p:nvPr/>
        </p:nvSpPr>
        <p:spPr>
          <a:xfrm flipH="false" flipV="false" rot="0">
            <a:off x="5570665" y="4603389"/>
            <a:ext cx="5936428" cy="3730691"/>
          </a:xfrm>
          <a:custGeom>
            <a:avLst/>
            <a:gdLst/>
            <a:ahLst/>
            <a:cxnLst/>
            <a:rect r="r" b="b" t="t" l="l"/>
            <a:pathLst>
              <a:path h="3730691" w="5936428">
                <a:moveTo>
                  <a:pt x="0" y="0"/>
                </a:moveTo>
                <a:lnTo>
                  <a:pt x="5936427" y="0"/>
                </a:lnTo>
                <a:lnTo>
                  <a:pt x="5936427" y="3730691"/>
                </a:lnTo>
                <a:lnTo>
                  <a:pt x="0" y="37306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6782564" y="3038086"/>
            <a:ext cx="5936428" cy="1152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119"/>
              </a:lnSpc>
            </a:pPr>
            <a:r>
              <a:rPr lang="en-US" b="true" sz="7599" spc="-151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CUIDA</a:t>
            </a:r>
            <a:r>
              <a:rPr lang="en-US" b="true" sz="7599" spc="-151">
                <a:solidFill>
                  <a:srgbClr val="93D14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7</a:t>
            </a: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826496" y="2463569"/>
            <a:ext cx="11196945" cy="6310665"/>
            <a:chOff x="0" y="0"/>
            <a:chExt cx="2948990" cy="16620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48990" cy="1662068"/>
            </a:xfrm>
            <a:custGeom>
              <a:avLst/>
              <a:gdLst/>
              <a:ahLst/>
              <a:cxnLst/>
              <a:rect r="r" b="b" t="t" l="l"/>
              <a:pathLst>
                <a:path h="1662068" w="2948990">
                  <a:moveTo>
                    <a:pt x="0" y="0"/>
                  </a:moveTo>
                  <a:lnTo>
                    <a:pt x="2948990" y="0"/>
                  </a:lnTo>
                  <a:lnTo>
                    <a:pt x="2948990" y="1662068"/>
                  </a:lnTo>
                  <a:lnTo>
                    <a:pt x="0" y="166206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48990" cy="16811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4284793" y="8170984"/>
            <a:ext cx="5949014" cy="2390422"/>
          </a:xfrm>
          <a:custGeom>
            <a:avLst/>
            <a:gdLst/>
            <a:ahLst/>
            <a:cxnLst/>
            <a:rect r="r" b="b" t="t" l="l"/>
            <a:pathLst>
              <a:path h="2390422" w="5949014">
                <a:moveTo>
                  <a:pt x="0" y="0"/>
                </a:moveTo>
                <a:lnTo>
                  <a:pt x="5949014" y="0"/>
                </a:lnTo>
                <a:lnTo>
                  <a:pt x="5949014" y="2390422"/>
                </a:lnTo>
                <a:lnTo>
                  <a:pt x="0" y="239042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826496" y="3282589"/>
            <a:ext cx="3618799" cy="4672626"/>
          </a:xfrm>
          <a:custGeom>
            <a:avLst/>
            <a:gdLst/>
            <a:ahLst/>
            <a:cxnLst/>
            <a:rect r="r" b="b" t="t" l="l"/>
            <a:pathLst>
              <a:path h="4672626" w="3618799">
                <a:moveTo>
                  <a:pt x="0" y="0"/>
                </a:moveTo>
                <a:lnTo>
                  <a:pt x="3618800" y="0"/>
                </a:lnTo>
                <a:lnTo>
                  <a:pt x="3618800" y="4672625"/>
                </a:lnTo>
                <a:lnTo>
                  <a:pt x="0" y="4672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2654961" y="2463569"/>
            <a:ext cx="2368480" cy="1152179"/>
          </a:xfrm>
          <a:custGeom>
            <a:avLst/>
            <a:gdLst/>
            <a:ahLst/>
            <a:cxnLst/>
            <a:rect r="r" b="b" t="t" l="l"/>
            <a:pathLst>
              <a:path h="1152179" w="2368480">
                <a:moveTo>
                  <a:pt x="0" y="0"/>
                </a:moveTo>
                <a:lnTo>
                  <a:pt x="2368480" y="0"/>
                </a:lnTo>
                <a:lnTo>
                  <a:pt x="2368480" y="1152179"/>
                </a:lnTo>
                <a:lnTo>
                  <a:pt x="0" y="11521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25884" r="0" b="-26516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3323775" y="7074568"/>
            <a:ext cx="1699666" cy="1699666"/>
          </a:xfrm>
          <a:custGeom>
            <a:avLst/>
            <a:gdLst/>
            <a:ahLst/>
            <a:cxnLst/>
            <a:rect r="r" b="b" t="t" l="l"/>
            <a:pathLst>
              <a:path h="1699666" w="1699666">
                <a:moveTo>
                  <a:pt x="0" y="0"/>
                </a:moveTo>
                <a:lnTo>
                  <a:pt x="1699666" y="0"/>
                </a:lnTo>
                <a:lnTo>
                  <a:pt x="1699666" y="1699666"/>
                </a:lnTo>
                <a:lnTo>
                  <a:pt x="0" y="169966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7330495" y="4405482"/>
            <a:ext cx="6508706" cy="2828329"/>
          </a:xfrm>
          <a:custGeom>
            <a:avLst/>
            <a:gdLst/>
            <a:ahLst/>
            <a:cxnLst/>
            <a:rect r="r" b="b" t="t" l="l"/>
            <a:pathLst>
              <a:path h="2828329" w="6508706">
                <a:moveTo>
                  <a:pt x="0" y="0"/>
                </a:moveTo>
                <a:lnTo>
                  <a:pt x="6508706" y="0"/>
                </a:lnTo>
                <a:lnTo>
                  <a:pt x="6508706" y="2828328"/>
                </a:lnTo>
                <a:lnTo>
                  <a:pt x="0" y="282832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DAG2b7D6YUg</dc:identifier>
  <dcterms:modified xsi:type="dcterms:W3CDTF">2011-08-01T06:04:30Z</dcterms:modified>
  <cp:revision>1</cp:revision>
  <dc:title>cuidaDos</dc:title>
</cp:coreProperties>
</file>